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60" r:id="rId1"/>
  </p:sldMasterIdLst>
  <p:sldIdLst>
    <p:sldId id="256" r:id="rId2"/>
    <p:sldId id="271" r:id="rId3"/>
    <p:sldId id="272" r:id="rId4"/>
    <p:sldId id="274" r:id="rId5"/>
    <p:sldId id="275" r:id="rId6"/>
    <p:sldId id="278" r:id="rId7"/>
    <p:sldId id="279" r:id="rId8"/>
    <p:sldId id="281" r:id="rId9"/>
    <p:sldId id="276" r:id="rId10"/>
    <p:sldId id="277" r:id="rId11"/>
  </p:sldIdLst>
  <p:sldSz cx="18288000" cy="10287000"/>
  <p:notesSz cx="6858000" cy="9144000"/>
  <p:embeddedFontLst>
    <p:embeddedFont>
      <p:font typeface="ADLaM Display" panose="02010000000000000000" pitchFamily="2" charset="0"/>
      <p:regular r:id="rId12"/>
    </p:embeddedFont>
    <p:embeddedFont>
      <p:font typeface="Gill Sans MT" panose="020B0502020104020203" pitchFamily="34" charset="0"/>
      <p:regular r:id="rId13"/>
      <p:bold r:id="rId14"/>
      <p:italic r:id="rId15"/>
      <p:boldItalic r:id="rId16"/>
    </p:embeddedFont>
    <p:embeddedFont>
      <p:font typeface="Nyutro Sans" panose="020B0604020202020204" charset="0"/>
      <p:regular r:id="rId17"/>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045AD2D-2F4C-4A76-AEF3-B09D25862689}" v="66" dt="2026-04-10T17:49:03.47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p:scale>
          <a:sx n="51" d="100"/>
          <a:sy n="51" d="100"/>
        </p:scale>
        <p:origin x="260" y="4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font" Target="fonts/font6.fntdata"/><Relationship Id="rId2" Type="http://schemas.openxmlformats.org/officeDocument/2006/relationships/slide" Target="slides/slide1.xml"/><Relationship Id="rId16" Type="http://schemas.openxmlformats.org/officeDocument/2006/relationships/font" Target="fonts/font5.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 Id="rId22" Type="http://schemas.microsoft.com/office/2015/10/relationships/revisionInfo" Target="revisionInfo.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626669" y="1203448"/>
            <a:ext cx="12955610" cy="3812147"/>
          </a:xfrm>
        </p:spPr>
        <p:txBody>
          <a:bodyPr bIns="0" anchor="b">
            <a:normAutofit/>
          </a:bodyPr>
          <a:lstStyle>
            <a:lvl1pPr algn="l">
              <a:defRPr sz="9900"/>
            </a:lvl1pPr>
          </a:lstStyle>
          <a:p>
            <a:r>
              <a:rPr lang="en-US"/>
              <a:t>Click to edit Master title style</a:t>
            </a:r>
            <a:endParaRPr lang="en-US" dirty="0"/>
          </a:p>
        </p:txBody>
      </p:sp>
      <p:sp>
        <p:nvSpPr>
          <p:cNvPr id="3" name="Subtitle 2"/>
          <p:cNvSpPr>
            <a:spLocks noGrp="1"/>
          </p:cNvSpPr>
          <p:nvPr>
            <p:ph type="subTitle" idx="1"/>
          </p:nvPr>
        </p:nvSpPr>
        <p:spPr>
          <a:xfrm>
            <a:off x="3626670" y="5296807"/>
            <a:ext cx="12955608" cy="1466432"/>
          </a:xfrm>
        </p:spPr>
        <p:txBody>
          <a:bodyPr tIns="91440" bIns="91440">
            <a:normAutofit/>
          </a:bodyPr>
          <a:lstStyle>
            <a:lvl1pPr marL="0" indent="0" algn="l">
              <a:buNone/>
              <a:defRPr sz="2700" b="0" cap="all" baseline="0">
                <a:solidFill>
                  <a:schemeClr val="tx1"/>
                </a:solidFill>
              </a:defRPr>
            </a:lvl1pPr>
            <a:lvl2pPr marL="685800" indent="0" algn="ctr">
              <a:buNone/>
              <a:defRPr sz="2700"/>
            </a:lvl2pPr>
            <a:lvl3pPr marL="1371600" indent="0" algn="ctr">
              <a:buNone/>
              <a:defRPr sz="2700"/>
            </a:lvl3pPr>
            <a:lvl4pPr marL="2057400" indent="0" algn="ctr">
              <a:buNone/>
              <a:defRPr sz="2400"/>
            </a:lvl4pPr>
            <a:lvl5pPr marL="2743200" indent="0" algn="ctr">
              <a:buNone/>
              <a:defRPr sz="2400"/>
            </a:lvl5pPr>
            <a:lvl6pPr marL="3429000" indent="0" algn="ctr">
              <a:buNone/>
              <a:defRPr sz="2400"/>
            </a:lvl6pPr>
            <a:lvl7pPr marL="4114800" indent="0" algn="ctr">
              <a:buNone/>
              <a:defRPr sz="2400"/>
            </a:lvl7pPr>
            <a:lvl8pPr marL="4800600" indent="0" algn="ctr">
              <a:buNone/>
              <a:defRPr sz="2400"/>
            </a:lvl8pPr>
            <a:lvl9pPr marL="5486400" indent="0" algn="ctr">
              <a:buNone/>
              <a:defRPr sz="24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4/10/2026</a:t>
            </a:fld>
            <a:endParaRPr lang="en-US" dirty="0"/>
          </a:p>
        </p:txBody>
      </p:sp>
      <p:sp>
        <p:nvSpPr>
          <p:cNvPr id="5" name="Footer Placeholder 4"/>
          <p:cNvSpPr>
            <a:spLocks noGrp="1"/>
          </p:cNvSpPr>
          <p:nvPr>
            <p:ph type="ftr" sz="quarter" idx="11"/>
          </p:nvPr>
        </p:nvSpPr>
        <p:spPr>
          <a:xfrm>
            <a:off x="3624751" y="493961"/>
            <a:ext cx="7460873" cy="463802"/>
          </a:xfrm>
        </p:spPr>
        <p:txBody>
          <a:bodyPr/>
          <a:lstStyle/>
          <a:p>
            <a:endParaRPr lang="en-US" dirty="0"/>
          </a:p>
        </p:txBody>
      </p:sp>
      <p:sp>
        <p:nvSpPr>
          <p:cNvPr id="6" name="Slide Number Placeholder 5"/>
          <p:cNvSpPr>
            <a:spLocks noGrp="1"/>
          </p:cNvSpPr>
          <p:nvPr>
            <p:ph type="sldNum" sz="quarter" idx="12"/>
          </p:nvPr>
        </p:nvSpPr>
        <p:spPr>
          <a:xfrm>
            <a:off x="2156497" y="1198460"/>
            <a:ext cx="1216529" cy="755367"/>
          </a:xfrm>
        </p:spPr>
        <p:txBody>
          <a:bodyPr/>
          <a:lstStyle/>
          <a:p>
            <a:fld id="{B6F15528-21DE-4FAA-801E-634DDDAF4B2B}" type="slidenum">
              <a:rPr lang="en-US" smtClean="0"/>
              <a:pPr/>
              <a:t>‹#›</a:t>
            </a:fld>
            <a:endParaRPr lang="en-US" dirty="0"/>
          </a:p>
        </p:txBody>
      </p:sp>
      <p:cxnSp>
        <p:nvCxnSpPr>
          <p:cNvPr id="15" name="Straight Connector 14"/>
          <p:cNvCxnSpPr/>
          <p:nvPr/>
        </p:nvCxnSpPr>
        <p:spPr>
          <a:xfrm>
            <a:off x="3626670" y="5292813"/>
            <a:ext cx="12955608"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4144301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4/10/2026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cxnSp>
        <p:nvCxnSpPr>
          <p:cNvPr id="33" name="Straight Connector 32"/>
          <p:cNvCxnSpPr/>
          <p:nvPr/>
        </p:nvCxnSpPr>
        <p:spPr>
          <a:xfrm>
            <a:off x="2180844" y="2770632"/>
            <a:ext cx="14411283"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8650251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181359" y="2634195"/>
            <a:ext cx="12964731" cy="2831925"/>
          </a:xfrm>
        </p:spPr>
        <p:txBody>
          <a:bodyPr anchor="b">
            <a:normAutofit/>
          </a:bodyPr>
          <a:lstStyle>
            <a:lvl1pPr algn="l">
              <a:defRPr sz="5400"/>
            </a:lvl1pPr>
          </a:lstStyle>
          <a:p>
            <a:r>
              <a:rPr lang="en-US"/>
              <a:t>Click to edit Master title style</a:t>
            </a:r>
            <a:endParaRPr lang="en-US" dirty="0"/>
          </a:p>
        </p:txBody>
      </p:sp>
      <p:sp>
        <p:nvSpPr>
          <p:cNvPr id="3" name="Text Placeholder 2"/>
          <p:cNvSpPr>
            <a:spLocks noGrp="1"/>
          </p:cNvSpPr>
          <p:nvPr>
            <p:ph type="body" idx="1"/>
          </p:nvPr>
        </p:nvSpPr>
        <p:spPr>
          <a:xfrm>
            <a:off x="2181359" y="5709293"/>
            <a:ext cx="12945669" cy="1519394"/>
          </a:xfrm>
        </p:spPr>
        <p:txBody>
          <a:bodyPr tIns="91440">
            <a:normAutofit/>
          </a:bodyPr>
          <a:lstStyle>
            <a:lvl1pPr marL="0" indent="0" algn="l">
              <a:buNone/>
              <a:defRPr sz="2700">
                <a:solidFill>
                  <a:schemeClr val="tx1"/>
                </a:solidFill>
              </a:defRPr>
            </a:lvl1pPr>
            <a:lvl2pPr marL="685800" indent="0">
              <a:buNone/>
              <a:defRPr sz="2700">
                <a:solidFill>
                  <a:schemeClr val="tx1">
                    <a:tint val="75000"/>
                  </a:schemeClr>
                </a:solidFill>
              </a:defRPr>
            </a:lvl2pPr>
            <a:lvl3pPr marL="1371600" indent="0">
              <a:buNone/>
              <a:defRPr sz="2700">
                <a:solidFill>
                  <a:schemeClr val="tx1">
                    <a:tint val="75000"/>
                  </a:schemeClr>
                </a:solidFill>
              </a:defRPr>
            </a:lvl3pPr>
            <a:lvl4pPr marL="2057400" indent="0">
              <a:buNone/>
              <a:defRPr sz="2400">
                <a:solidFill>
                  <a:schemeClr val="tx1">
                    <a:tint val="75000"/>
                  </a:schemeClr>
                </a:solidFill>
              </a:defRPr>
            </a:lvl4pPr>
            <a:lvl5pPr marL="2743200" indent="0">
              <a:buNone/>
              <a:defRPr sz="2400">
                <a:solidFill>
                  <a:schemeClr val="tx1">
                    <a:tint val="75000"/>
                  </a:schemeClr>
                </a:solidFill>
              </a:defRPr>
            </a:lvl5pPr>
            <a:lvl6pPr marL="3429000" indent="0">
              <a:buNone/>
              <a:defRPr sz="2400">
                <a:solidFill>
                  <a:schemeClr val="tx1">
                    <a:tint val="75000"/>
                  </a:schemeClr>
                </a:solidFill>
              </a:defRPr>
            </a:lvl6pPr>
            <a:lvl7pPr marL="4114800" indent="0">
              <a:buNone/>
              <a:defRPr sz="2400">
                <a:solidFill>
                  <a:schemeClr val="tx1">
                    <a:tint val="75000"/>
                  </a:schemeClr>
                </a:solidFill>
              </a:defRPr>
            </a:lvl7pPr>
            <a:lvl8pPr marL="4800600" indent="0">
              <a:buNone/>
              <a:defRPr sz="2400">
                <a:solidFill>
                  <a:schemeClr val="tx1">
                    <a:tint val="75000"/>
                  </a:schemeClr>
                </a:solidFill>
              </a:defRPr>
            </a:lvl8pPr>
            <a:lvl9pPr marL="5486400" indent="0">
              <a:buNone/>
              <a:defRPr sz="2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cxnSp>
        <p:nvCxnSpPr>
          <p:cNvPr id="15" name="Straight Connector 14"/>
          <p:cNvCxnSpPr/>
          <p:nvPr/>
        </p:nvCxnSpPr>
        <p:spPr>
          <a:xfrm>
            <a:off x="2181359" y="5707478"/>
            <a:ext cx="12945669"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889016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2173826" y="1207334"/>
            <a:ext cx="14408453" cy="1588958"/>
          </a:xfrm>
        </p:spPr>
        <p:txBody>
          <a:bodyPr/>
          <a:lstStyle/>
          <a:p>
            <a:r>
              <a:rPr lang="en-US"/>
              <a:t>Click to edit Master title style</a:t>
            </a:r>
            <a:endParaRPr lang="en-US" dirty="0"/>
          </a:p>
        </p:txBody>
      </p:sp>
      <p:sp>
        <p:nvSpPr>
          <p:cNvPr id="3" name="Content Placeholder 2"/>
          <p:cNvSpPr>
            <a:spLocks noGrp="1"/>
          </p:cNvSpPr>
          <p:nvPr>
            <p:ph sz="half" idx="1"/>
          </p:nvPr>
        </p:nvSpPr>
        <p:spPr>
          <a:xfrm>
            <a:off x="2170997" y="3016318"/>
            <a:ext cx="6967728" cy="51728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9620657" y="3026015"/>
            <a:ext cx="6967728" cy="51622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pPr/>
              <a:t>4/10/2026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cxnSp>
        <p:nvCxnSpPr>
          <p:cNvPr id="35" name="Straight Connector 34"/>
          <p:cNvCxnSpPr/>
          <p:nvPr/>
        </p:nvCxnSpPr>
        <p:spPr>
          <a:xfrm>
            <a:off x="2180844" y="2770632"/>
            <a:ext cx="14411283"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9426428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170787" y="1206245"/>
            <a:ext cx="14411492" cy="1584479"/>
          </a:xfrm>
        </p:spPr>
        <p:txBody>
          <a:bodyPr/>
          <a:lstStyle/>
          <a:p>
            <a:r>
              <a:rPr lang="en-US"/>
              <a:t>Click to edit Master title style</a:t>
            </a:r>
            <a:endParaRPr lang="en-US" dirty="0"/>
          </a:p>
        </p:txBody>
      </p:sp>
      <p:sp>
        <p:nvSpPr>
          <p:cNvPr id="3" name="Text Placeholder 2"/>
          <p:cNvSpPr>
            <a:spLocks noGrp="1"/>
          </p:cNvSpPr>
          <p:nvPr>
            <p:ph type="body" idx="1"/>
          </p:nvPr>
        </p:nvSpPr>
        <p:spPr>
          <a:xfrm>
            <a:off x="2170787" y="3029324"/>
            <a:ext cx="6967728" cy="1202915"/>
          </a:xfrm>
        </p:spPr>
        <p:txBody>
          <a:bodyPr anchor="b">
            <a:normAutofit/>
          </a:bodyPr>
          <a:lstStyle>
            <a:lvl1pPr marL="0" indent="0">
              <a:lnSpc>
                <a:spcPct val="100000"/>
              </a:lnSpc>
              <a:buNone/>
              <a:defRPr sz="3300" b="0" cap="all" baseline="0">
                <a:solidFill>
                  <a:schemeClr val="accent1"/>
                </a:solidFill>
              </a:defRPr>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4" name="Content Placeholder 3"/>
          <p:cNvSpPr>
            <a:spLocks noGrp="1"/>
          </p:cNvSpPr>
          <p:nvPr>
            <p:ph sz="half" idx="2"/>
          </p:nvPr>
        </p:nvSpPr>
        <p:spPr>
          <a:xfrm>
            <a:off x="2170787" y="4236404"/>
            <a:ext cx="6967728" cy="396668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9618543" y="3034505"/>
            <a:ext cx="6967728" cy="1203356"/>
          </a:xfrm>
        </p:spPr>
        <p:txBody>
          <a:bodyPr anchor="b">
            <a:normAutofit/>
          </a:bodyPr>
          <a:lstStyle>
            <a:lvl1pPr marL="0" indent="0">
              <a:lnSpc>
                <a:spcPct val="100000"/>
              </a:lnSpc>
              <a:buNone/>
              <a:defRPr sz="3300" b="0" cap="all" baseline="0">
                <a:solidFill>
                  <a:schemeClr val="accent1"/>
                </a:solidFill>
              </a:defRPr>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6" name="Content Placeholder 5"/>
          <p:cNvSpPr>
            <a:spLocks noGrp="1"/>
          </p:cNvSpPr>
          <p:nvPr>
            <p:ph sz="quarter" idx="4"/>
          </p:nvPr>
        </p:nvSpPr>
        <p:spPr>
          <a:xfrm>
            <a:off x="9618543" y="4232237"/>
            <a:ext cx="6967728" cy="39560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pPr/>
              <a:t>4/10/2026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dirty="0"/>
          </a:p>
        </p:txBody>
      </p:sp>
      <p:cxnSp>
        <p:nvCxnSpPr>
          <p:cNvPr id="29" name="Straight Connector 28"/>
          <p:cNvCxnSpPr/>
          <p:nvPr/>
        </p:nvCxnSpPr>
        <p:spPr>
          <a:xfrm>
            <a:off x="2180844" y="2770632"/>
            <a:ext cx="14411283"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0439305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D8BD707-D9CF-40AE-B4C6-C98DA3205C09}" type="datetimeFigureOut">
              <a:rPr lang="en-US" smtClean="0"/>
              <a:pPr/>
              <a:t>4/10/2026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dirty="0"/>
          </a:p>
        </p:txBody>
      </p:sp>
      <p:cxnSp>
        <p:nvCxnSpPr>
          <p:cNvPr id="25" name="Straight Connector 24"/>
          <p:cNvCxnSpPr/>
          <p:nvPr/>
        </p:nvCxnSpPr>
        <p:spPr>
          <a:xfrm>
            <a:off x="2180844" y="2770632"/>
            <a:ext cx="14411283"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6131608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4/10/2026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21325128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67007" y="1198460"/>
            <a:ext cx="4909649" cy="3370676"/>
          </a:xfrm>
        </p:spPr>
        <p:txBody>
          <a:bodyPr anchor="b">
            <a:normAutofit/>
          </a:bodyPr>
          <a:lstStyle>
            <a:lvl1pPr algn="l">
              <a:defRPr sz="3600"/>
            </a:lvl1pPr>
          </a:lstStyle>
          <a:p>
            <a:r>
              <a:rPr lang="en-US"/>
              <a:t>Click to edit Master title style</a:t>
            </a:r>
            <a:endParaRPr lang="en-US" dirty="0"/>
          </a:p>
        </p:txBody>
      </p:sp>
      <p:sp>
        <p:nvSpPr>
          <p:cNvPr id="3" name="Content Placeholder 2"/>
          <p:cNvSpPr>
            <a:spLocks noGrp="1"/>
          </p:cNvSpPr>
          <p:nvPr>
            <p:ph idx="1"/>
          </p:nvPr>
        </p:nvSpPr>
        <p:spPr>
          <a:xfrm>
            <a:off x="7565571" y="1198461"/>
            <a:ext cx="9018705" cy="6988239"/>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167007" y="4808237"/>
            <a:ext cx="4912520" cy="3372272"/>
          </a:xfrm>
        </p:spPr>
        <p:txBody>
          <a:bodyPr/>
          <a:lstStyle>
            <a:lvl1pPr marL="0" indent="0" algn="l">
              <a:buNone/>
              <a:defRPr sz="24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cxnSp>
        <p:nvCxnSpPr>
          <p:cNvPr id="17" name="Straight Connector 16"/>
          <p:cNvCxnSpPr/>
          <p:nvPr/>
        </p:nvCxnSpPr>
        <p:spPr>
          <a:xfrm>
            <a:off x="2172420" y="4808237"/>
            <a:ext cx="4904235"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051076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11216081" y="723256"/>
            <a:ext cx="6111800" cy="7723652"/>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txBody>
            <a:bodyPr/>
            <a:lstStyle/>
            <a:p>
              <a:endParaRPr lang="en-IN" dirty="0"/>
            </a:p>
          </p:txBody>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txBody>
            <a:bodyPr/>
            <a:lstStyle/>
            <a:p>
              <a:endParaRPr lang="en-IN" dirty="0"/>
            </a:p>
          </p:txBody>
        </p:sp>
      </p:grpSp>
      <p:sp>
        <p:nvSpPr>
          <p:cNvPr id="2" name="Title 1"/>
          <p:cNvSpPr>
            <a:spLocks noGrp="1"/>
          </p:cNvSpPr>
          <p:nvPr>
            <p:ph type="title"/>
          </p:nvPr>
        </p:nvSpPr>
        <p:spPr>
          <a:xfrm>
            <a:off x="2176809" y="1694270"/>
            <a:ext cx="8298492" cy="2745876"/>
          </a:xfrm>
        </p:spPr>
        <p:txBody>
          <a:bodyPr anchor="b">
            <a:normAutofit/>
          </a:bodyPr>
          <a:lstStyle>
            <a:lvl1pPr>
              <a:defRPr sz="4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2186584" y="1683814"/>
            <a:ext cx="4186757" cy="5799491"/>
          </a:xfrm>
          <a:solidFill>
            <a:schemeClr val="bg1">
              <a:lumMod val="85000"/>
            </a:schemeClr>
          </a:solidFill>
          <a:ln w="9525" cap="sq">
            <a:noFill/>
            <a:miter lim="800000"/>
          </a:ln>
          <a:effectLst/>
        </p:spPr>
        <p:txBody>
          <a:bodyPr anchor="t"/>
          <a:lstStyle>
            <a:lvl1pPr marL="0" indent="0" algn="ctr">
              <a:buNone/>
              <a:defRPr sz="4800"/>
            </a:lvl1pPr>
            <a:lvl2pPr marL="685800" indent="0">
              <a:buNone/>
              <a:defRPr sz="4200"/>
            </a:lvl2pPr>
            <a:lvl3pPr marL="1371600" indent="0">
              <a:buNone/>
              <a:defRPr sz="3600"/>
            </a:lvl3pPr>
            <a:lvl4pPr marL="2057400" indent="0">
              <a:buNone/>
              <a:defRPr sz="3000"/>
            </a:lvl4pPr>
            <a:lvl5pPr marL="2743200" indent="0">
              <a:buNone/>
              <a:defRPr sz="3000"/>
            </a:lvl5pPr>
            <a:lvl6pPr marL="3429000" indent="0">
              <a:buNone/>
              <a:defRPr sz="3000"/>
            </a:lvl6pPr>
            <a:lvl7pPr marL="4114800" indent="0">
              <a:buNone/>
              <a:defRPr sz="3000"/>
            </a:lvl7pPr>
            <a:lvl8pPr marL="4800600" indent="0">
              <a:buNone/>
              <a:defRPr sz="3000"/>
            </a:lvl8pPr>
            <a:lvl9pPr marL="5486400" indent="0">
              <a:buNone/>
              <a:defRPr sz="3000"/>
            </a:lvl9pPr>
          </a:lstStyle>
          <a:p>
            <a:r>
              <a:rPr lang="en-US" dirty="0"/>
              <a:t>Click icon to add picture</a:t>
            </a:r>
          </a:p>
        </p:txBody>
      </p:sp>
      <p:sp>
        <p:nvSpPr>
          <p:cNvPr id="4" name="Text Placeholder 3"/>
          <p:cNvSpPr>
            <a:spLocks noGrp="1"/>
          </p:cNvSpPr>
          <p:nvPr>
            <p:ph type="body" sz="half" idx="2"/>
          </p:nvPr>
        </p:nvSpPr>
        <p:spPr>
          <a:xfrm>
            <a:off x="2175494" y="4718988"/>
            <a:ext cx="8286606" cy="3005613"/>
          </a:xfrm>
        </p:spPr>
        <p:txBody>
          <a:bodyPr>
            <a:normAutofit/>
          </a:bodyPr>
          <a:lstStyle>
            <a:lvl1pPr marL="0" indent="0" algn="l">
              <a:buNone/>
              <a:defRPr sz="27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en-US"/>
              <a:t>Click to edit Master text styles</a:t>
            </a:r>
          </a:p>
        </p:txBody>
      </p:sp>
      <p:sp>
        <p:nvSpPr>
          <p:cNvPr id="5" name="Date Placeholder 4"/>
          <p:cNvSpPr>
            <a:spLocks noGrp="1"/>
          </p:cNvSpPr>
          <p:nvPr>
            <p:ph type="dt" sz="half" idx="10"/>
          </p:nvPr>
        </p:nvSpPr>
        <p:spPr>
          <a:xfrm>
            <a:off x="2171074" y="8204785"/>
            <a:ext cx="8291027" cy="480185"/>
          </a:xfrm>
        </p:spPr>
        <p:txBody>
          <a:bodyPr/>
          <a:lstStyle>
            <a:lvl1pPr algn="l">
              <a:defRPr/>
            </a:lvl1pPr>
          </a:lstStyle>
          <a:p>
            <a:fld id="{1D8BD707-D9CF-40AE-B4C6-C98DA3205C09}" type="datetimeFigureOut">
              <a:rPr lang="en-US" smtClean="0"/>
              <a:pPr/>
              <a:t>4/10/2026</a:t>
            </a:fld>
            <a:endParaRPr lang="en-US" dirty="0"/>
          </a:p>
        </p:txBody>
      </p:sp>
      <p:sp>
        <p:nvSpPr>
          <p:cNvPr id="6" name="Footer Placeholder 5"/>
          <p:cNvSpPr>
            <a:spLocks noGrp="1"/>
          </p:cNvSpPr>
          <p:nvPr>
            <p:ph type="ftr" sz="quarter" idx="11"/>
          </p:nvPr>
        </p:nvSpPr>
        <p:spPr>
          <a:xfrm>
            <a:off x="2171073" y="477961"/>
            <a:ext cx="8311506" cy="481397"/>
          </a:xfrm>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cxnSp>
        <p:nvCxnSpPr>
          <p:cNvPr id="31" name="Straight Connector 30"/>
          <p:cNvCxnSpPr/>
          <p:nvPr/>
        </p:nvCxnSpPr>
        <p:spPr>
          <a:xfrm>
            <a:off x="2171074" y="4715408"/>
            <a:ext cx="8291027"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2236386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4/10/2026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cxnSp>
        <p:nvCxnSpPr>
          <p:cNvPr id="26" name="Straight Connector 25"/>
          <p:cNvCxnSpPr/>
          <p:nvPr/>
        </p:nvCxnSpPr>
        <p:spPr>
          <a:xfrm>
            <a:off x="2180844" y="2770632"/>
            <a:ext cx="14411283"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3424560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4158667" y="1198460"/>
            <a:ext cx="2423613" cy="6989834"/>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2167008" y="1198460"/>
            <a:ext cx="11743245" cy="698983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4/10/2026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cxnSp>
        <p:nvCxnSpPr>
          <p:cNvPr id="15" name="Straight Connector 14"/>
          <p:cNvCxnSpPr/>
          <p:nvPr/>
        </p:nvCxnSpPr>
        <p:spPr>
          <a:xfrm>
            <a:off x="14158667" y="1198460"/>
            <a:ext cx="0" cy="6989834"/>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7874409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3029215"/>
            <a:ext cx="18288000" cy="6158912"/>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dirty="0"/>
          </a:p>
        </p:txBody>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9189720"/>
            <a:ext cx="18288000" cy="1114425"/>
          </a:xfrm>
          <a:prstGeom prst="rect">
            <a:avLst/>
          </a:prstGeom>
        </p:spPr>
      </p:pic>
      <p:sp>
        <p:nvSpPr>
          <p:cNvPr id="2" name="Title Placeholder 1"/>
          <p:cNvSpPr>
            <a:spLocks noGrp="1"/>
          </p:cNvSpPr>
          <p:nvPr>
            <p:ph type="title"/>
          </p:nvPr>
        </p:nvSpPr>
        <p:spPr>
          <a:xfrm>
            <a:off x="2177369" y="1206779"/>
            <a:ext cx="14404913" cy="1573853"/>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177369" y="3023599"/>
            <a:ext cx="14404913" cy="51759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1331208" y="495555"/>
            <a:ext cx="5251073" cy="463802"/>
          </a:xfrm>
          <a:prstGeom prst="rect">
            <a:avLst/>
          </a:prstGeom>
        </p:spPr>
        <p:txBody>
          <a:bodyPr vert="horz" lIns="91440" tIns="45720" rIns="91440" bIns="45720" rtlCol="0" anchor="ctr"/>
          <a:lstStyle>
            <a:lvl1pPr algn="r">
              <a:defRPr sz="1500">
                <a:solidFill>
                  <a:schemeClr val="tx1">
                    <a:tint val="75000"/>
                  </a:schemeClr>
                </a:solidFill>
              </a:defRPr>
            </a:lvl1pPr>
          </a:lstStyle>
          <a:p>
            <a:fld id="{1D8BD707-D9CF-40AE-B4C6-C98DA3205C09}" type="datetimeFigureOut">
              <a:rPr lang="en-US" smtClean="0"/>
              <a:pPr/>
              <a:t>4/10/2026</a:t>
            </a:fld>
            <a:endParaRPr lang="en-US" dirty="0"/>
          </a:p>
        </p:txBody>
      </p:sp>
      <p:sp>
        <p:nvSpPr>
          <p:cNvPr id="5" name="Footer Placeholder 4"/>
          <p:cNvSpPr>
            <a:spLocks noGrp="1"/>
          </p:cNvSpPr>
          <p:nvPr>
            <p:ph type="ftr" sz="quarter" idx="3"/>
          </p:nvPr>
        </p:nvSpPr>
        <p:spPr>
          <a:xfrm>
            <a:off x="2177369" y="493961"/>
            <a:ext cx="8908254" cy="463802"/>
          </a:xfrm>
          <a:prstGeom prst="rect">
            <a:avLst/>
          </a:prstGeom>
        </p:spPr>
        <p:txBody>
          <a:bodyPr vert="horz" lIns="91440" tIns="45720" rIns="91440" bIns="45720" rtlCol="0" anchor="ctr"/>
          <a:lstStyle>
            <a:lvl1pPr algn="l">
              <a:defRPr sz="15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720091" y="1198460"/>
            <a:ext cx="1216529" cy="755367"/>
          </a:xfrm>
          <a:prstGeom prst="rect">
            <a:avLst/>
          </a:prstGeom>
        </p:spPr>
        <p:txBody>
          <a:bodyPr vert="horz" lIns="91440" tIns="45720" rIns="91440" bIns="45720" rtlCol="0" anchor="t"/>
          <a:lstStyle>
            <a:lvl1pPr algn="r">
              <a:defRPr sz="4200">
                <a:solidFill>
                  <a:schemeClr val="accent1"/>
                </a:solidFill>
              </a:defRPr>
            </a:lvl1pPr>
          </a:lstStyle>
          <a:p>
            <a:fld id="{B6F15528-21DE-4FAA-801E-634DDDAF4B2B}" type="slidenum">
              <a:rPr lang="en-US" smtClean="0"/>
              <a:pPr/>
              <a:t>‹#›</a:t>
            </a:fld>
            <a:endParaRPr lang="en-US" dirty="0"/>
          </a:p>
        </p:txBody>
      </p:sp>
      <p:cxnSp>
        <p:nvCxnSpPr>
          <p:cNvPr id="10" name="Straight Connector 9"/>
          <p:cNvCxnSpPr/>
          <p:nvPr/>
        </p:nvCxnSpPr>
        <p:spPr>
          <a:xfrm>
            <a:off x="0" y="9192620"/>
            <a:ext cx="18288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0404613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1371600" rtl="0" eaLnBrk="1" latinLnBrk="0" hangingPunct="1">
        <a:lnSpc>
          <a:spcPct val="90000"/>
        </a:lnSpc>
        <a:spcBef>
          <a:spcPct val="0"/>
        </a:spcBef>
        <a:buNone/>
        <a:defRPr sz="4800" b="0" i="0" kern="1200" cap="all">
          <a:solidFill>
            <a:schemeClr val="tx1"/>
          </a:solidFill>
          <a:effectLst/>
          <a:latin typeface="+mj-lt"/>
          <a:ea typeface="+mj-ea"/>
          <a:cs typeface="+mj-cs"/>
        </a:defRPr>
      </a:lvl1pPr>
    </p:titleStyle>
    <p:bodyStyle>
      <a:lvl1pPr marL="342900" indent="-342900" algn="l" defTabSz="1371600" rtl="0" eaLnBrk="1" latinLnBrk="0" hangingPunct="1">
        <a:lnSpc>
          <a:spcPct val="120000"/>
        </a:lnSpc>
        <a:spcBef>
          <a:spcPts val="1500"/>
        </a:spcBef>
        <a:buClr>
          <a:schemeClr val="accent1"/>
        </a:buClr>
        <a:buSzPct val="100000"/>
        <a:buFont typeface="Arial" panose="020B0604020202020204" pitchFamily="34" charset="0"/>
        <a:buChar char="•"/>
        <a:defRPr sz="3000" kern="1200">
          <a:solidFill>
            <a:schemeClr val="tx1"/>
          </a:solidFill>
          <a:effectLst/>
          <a:latin typeface="+mn-lt"/>
          <a:ea typeface="+mn-ea"/>
          <a:cs typeface="+mn-cs"/>
        </a:defRPr>
      </a:lvl1pPr>
      <a:lvl2pPr marL="1028700" indent="-342900" algn="l" defTabSz="1371600" rtl="0" eaLnBrk="1" latinLnBrk="0" hangingPunct="1">
        <a:lnSpc>
          <a:spcPct val="120000"/>
        </a:lnSpc>
        <a:spcBef>
          <a:spcPts val="750"/>
        </a:spcBef>
        <a:buClr>
          <a:schemeClr val="accent1"/>
        </a:buClr>
        <a:buSzPct val="100000"/>
        <a:buFont typeface="Arial" panose="020B0604020202020204" pitchFamily="34" charset="0"/>
        <a:buChar char="•"/>
        <a:defRPr sz="2700" kern="1200" cap="none" baseline="0">
          <a:solidFill>
            <a:schemeClr val="tx1"/>
          </a:solidFill>
          <a:effectLst/>
          <a:latin typeface="+mn-lt"/>
          <a:ea typeface="+mn-ea"/>
          <a:cs typeface="+mn-cs"/>
        </a:defRPr>
      </a:lvl2pPr>
      <a:lvl3pPr marL="1714500" indent="-342900" algn="l" defTabSz="1371600" rtl="0" eaLnBrk="1" latinLnBrk="0" hangingPunct="1">
        <a:lnSpc>
          <a:spcPct val="120000"/>
        </a:lnSpc>
        <a:spcBef>
          <a:spcPts val="750"/>
        </a:spcBef>
        <a:buClr>
          <a:schemeClr val="accent1"/>
        </a:buClr>
        <a:buSzPct val="100000"/>
        <a:buFont typeface="Arial" panose="020B0604020202020204" pitchFamily="34" charset="0"/>
        <a:buChar char="•"/>
        <a:defRPr sz="2400" kern="1200">
          <a:solidFill>
            <a:schemeClr val="tx1"/>
          </a:solidFill>
          <a:effectLst/>
          <a:latin typeface="+mn-lt"/>
          <a:ea typeface="+mn-ea"/>
          <a:cs typeface="+mn-cs"/>
        </a:defRPr>
      </a:lvl3pPr>
      <a:lvl4pPr marL="2400300" indent="-342900" algn="l" defTabSz="1371600" rtl="0" eaLnBrk="1" latinLnBrk="0" hangingPunct="1">
        <a:lnSpc>
          <a:spcPct val="120000"/>
        </a:lnSpc>
        <a:spcBef>
          <a:spcPts val="750"/>
        </a:spcBef>
        <a:buClr>
          <a:schemeClr val="accent1"/>
        </a:buClr>
        <a:buSzPct val="100000"/>
        <a:buFont typeface="Arial" panose="020B0604020202020204" pitchFamily="34" charset="0"/>
        <a:buChar char="•"/>
        <a:defRPr sz="2100" kern="1200" cap="none" baseline="0">
          <a:solidFill>
            <a:schemeClr val="tx1"/>
          </a:solidFill>
          <a:effectLst/>
          <a:latin typeface="+mn-lt"/>
          <a:ea typeface="+mn-ea"/>
          <a:cs typeface="+mn-cs"/>
        </a:defRPr>
      </a:lvl4pPr>
      <a:lvl5pPr marL="3086100" indent="-342900" algn="l" defTabSz="1371600" rtl="0" eaLnBrk="1" latinLnBrk="0" hangingPunct="1">
        <a:lnSpc>
          <a:spcPct val="120000"/>
        </a:lnSpc>
        <a:spcBef>
          <a:spcPts val="750"/>
        </a:spcBef>
        <a:buClr>
          <a:schemeClr val="accent1"/>
        </a:buClr>
        <a:buSzPct val="100000"/>
        <a:buFont typeface="Arial" panose="020B0604020202020204" pitchFamily="34" charset="0"/>
        <a:buChar char="•"/>
        <a:defRPr sz="1800" kern="1200">
          <a:solidFill>
            <a:schemeClr val="tx1"/>
          </a:solidFill>
          <a:effectLst/>
          <a:latin typeface="+mn-lt"/>
          <a:ea typeface="+mn-ea"/>
          <a:cs typeface="+mn-cs"/>
        </a:defRPr>
      </a:lvl5pPr>
      <a:lvl6pPr marL="3771900" indent="-342900" algn="l" defTabSz="1371600" rtl="0" eaLnBrk="1" latinLnBrk="0" hangingPunct="1">
        <a:lnSpc>
          <a:spcPct val="120000"/>
        </a:lnSpc>
        <a:spcBef>
          <a:spcPts val="750"/>
        </a:spcBef>
        <a:buClr>
          <a:schemeClr val="accent1"/>
        </a:buClr>
        <a:buSzPct val="100000"/>
        <a:buFont typeface="Arial" panose="020B0604020202020204" pitchFamily="34" charset="0"/>
        <a:buChar char="•"/>
        <a:defRPr sz="1800" kern="1200">
          <a:solidFill>
            <a:schemeClr val="tx1"/>
          </a:solidFill>
          <a:effectLst/>
          <a:latin typeface="+mn-lt"/>
          <a:ea typeface="+mn-ea"/>
          <a:cs typeface="+mn-cs"/>
        </a:defRPr>
      </a:lvl6pPr>
      <a:lvl7pPr marL="4457700" indent="-342900" algn="l" defTabSz="1371600" rtl="0" eaLnBrk="1" latinLnBrk="0" hangingPunct="1">
        <a:lnSpc>
          <a:spcPct val="120000"/>
        </a:lnSpc>
        <a:spcBef>
          <a:spcPts val="750"/>
        </a:spcBef>
        <a:buClr>
          <a:schemeClr val="accent1"/>
        </a:buClr>
        <a:buSzPct val="100000"/>
        <a:buFont typeface="Arial" panose="020B0604020202020204" pitchFamily="34" charset="0"/>
        <a:buChar char="•"/>
        <a:defRPr sz="1800" kern="1200">
          <a:solidFill>
            <a:schemeClr val="tx1"/>
          </a:solidFill>
          <a:effectLst/>
          <a:latin typeface="+mn-lt"/>
          <a:ea typeface="+mn-ea"/>
          <a:cs typeface="+mn-cs"/>
        </a:defRPr>
      </a:lvl7pPr>
      <a:lvl8pPr marL="5143500" indent="-342900" algn="l" defTabSz="1371600" rtl="0" eaLnBrk="1" latinLnBrk="0" hangingPunct="1">
        <a:lnSpc>
          <a:spcPct val="120000"/>
        </a:lnSpc>
        <a:spcBef>
          <a:spcPts val="750"/>
        </a:spcBef>
        <a:buClr>
          <a:schemeClr val="accent1"/>
        </a:buClr>
        <a:buSzPct val="100000"/>
        <a:buFont typeface="Arial" panose="020B0604020202020204" pitchFamily="34" charset="0"/>
        <a:buChar char="•"/>
        <a:defRPr sz="1800" kern="1200" baseline="0">
          <a:solidFill>
            <a:schemeClr val="tx1"/>
          </a:solidFill>
          <a:effectLst/>
          <a:latin typeface="+mn-lt"/>
          <a:ea typeface="+mn-ea"/>
          <a:cs typeface="+mn-cs"/>
        </a:defRPr>
      </a:lvl8pPr>
      <a:lvl9pPr marL="5829300" indent="-342900" algn="l" defTabSz="1371600" rtl="0" eaLnBrk="1" latinLnBrk="0" hangingPunct="1">
        <a:lnSpc>
          <a:spcPct val="120000"/>
        </a:lnSpc>
        <a:spcBef>
          <a:spcPts val="750"/>
        </a:spcBef>
        <a:buClr>
          <a:schemeClr val="accent1"/>
        </a:buClr>
        <a:buSzPct val="100000"/>
        <a:buFont typeface="Arial" panose="020B0604020202020204" pitchFamily="34" charset="0"/>
        <a:buChar char="•"/>
        <a:defRPr sz="1800" kern="1200" baseline="0">
          <a:solidFill>
            <a:schemeClr val="tx1"/>
          </a:solidFill>
          <a:effectLst/>
          <a:latin typeface="+mn-lt"/>
          <a:ea typeface="+mn-ea"/>
          <a:cs typeface="+mn-cs"/>
        </a:defRPr>
      </a:lvl9pPr>
    </p:bodyStyle>
    <p:other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5.sv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6.sv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arxiv.org/abs/1312.6114" TargetMode="External"/><Relationship Id="rId2" Type="http://schemas.openxmlformats.org/officeDocument/2006/relationships/hyperlink" Target="https://arxiv.org/abs/1406.2661?utm_source=chatgpt.com" TargetMode="External"/><Relationship Id="rId1" Type="http://schemas.openxmlformats.org/officeDocument/2006/relationships/slideLayout" Target="../slideLayouts/slideLayout2.xml"/><Relationship Id="rId5" Type="http://schemas.openxmlformats.org/officeDocument/2006/relationships/image" Target="../media/image8.svg"/><Relationship Id="rId4" Type="http://schemas.openxmlformats.org/officeDocument/2006/relationships/hyperlink" Target="https://www.nature.com/articles/s41598-024-68744-6" TargetMode="External"/></Relationships>
</file>

<file path=ppt/slides/_rels/slide10.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1.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Freeform 7"/>
          <p:cNvSpPr/>
          <p:nvPr/>
        </p:nvSpPr>
        <p:spPr>
          <a:xfrm>
            <a:off x="6910294" y="749023"/>
            <a:ext cx="4467411" cy="1317139"/>
          </a:xfrm>
          <a:custGeom>
            <a:avLst/>
            <a:gdLst/>
            <a:ahLst/>
            <a:cxnLst/>
            <a:rect l="l" t="t" r="r" b="b"/>
            <a:pathLst>
              <a:path w="4467411" h="1317139">
                <a:moveTo>
                  <a:pt x="0" y="0"/>
                </a:moveTo>
                <a:lnTo>
                  <a:pt x="4467410" y="0"/>
                </a:lnTo>
                <a:lnTo>
                  <a:pt x="4467410" y="1317139"/>
                </a:lnTo>
                <a:lnTo>
                  <a:pt x="0" y="1317139"/>
                </a:lnTo>
                <a:lnTo>
                  <a:pt x="0" y="0"/>
                </a:lnTo>
                <a:close/>
              </a:path>
            </a:pathLst>
          </a:custGeom>
          <a:blipFill>
            <a:blip r:embed="rId2"/>
            <a:stretch>
              <a:fillRect/>
            </a:stretch>
          </a:blipFill>
        </p:spPr>
        <p:txBody>
          <a:bodyPr/>
          <a:lstStyle/>
          <a:p>
            <a:endParaRPr lang="en-IN" dirty="0"/>
          </a:p>
        </p:txBody>
      </p:sp>
      <p:sp>
        <p:nvSpPr>
          <p:cNvPr id="8" name="TextBox 8"/>
          <p:cNvSpPr txBox="1"/>
          <p:nvPr/>
        </p:nvSpPr>
        <p:spPr>
          <a:xfrm>
            <a:off x="1633370" y="4144174"/>
            <a:ext cx="15021257" cy="1282402"/>
          </a:xfrm>
          <a:prstGeom prst="rect">
            <a:avLst/>
          </a:prstGeom>
        </p:spPr>
        <p:txBody>
          <a:bodyPr lIns="0" tIns="0" rIns="0" bIns="0" rtlCol="0" anchor="t">
            <a:spAutoFit/>
          </a:bodyPr>
          <a:lstStyle/>
          <a:p>
            <a:pPr algn="ctr">
              <a:lnSpc>
                <a:spcPts val="5003"/>
              </a:lnSpc>
            </a:pPr>
            <a:r>
              <a:rPr lang="en-US" sz="4400" b="1" dirty="0">
                <a:solidFill>
                  <a:srgbClr val="161B1C"/>
                </a:solidFill>
                <a:latin typeface="Nyutro Sans"/>
                <a:ea typeface="Nyutro Sans"/>
                <a:cs typeface="Nyutro Sans"/>
                <a:sym typeface="Nyutro Sans"/>
              </a:rPr>
              <a:t>Bio-Inspired Generative Optimization for Gene-Based Disease Classification</a:t>
            </a:r>
          </a:p>
        </p:txBody>
      </p:sp>
      <p:sp>
        <p:nvSpPr>
          <p:cNvPr id="10" name="TextBox 10"/>
          <p:cNvSpPr txBox="1"/>
          <p:nvPr/>
        </p:nvSpPr>
        <p:spPr>
          <a:xfrm>
            <a:off x="13177764" y="7283492"/>
            <a:ext cx="4288234" cy="1154162"/>
          </a:xfrm>
          <a:prstGeom prst="rect">
            <a:avLst/>
          </a:prstGeom>
        </p:spPr>
        <p:txBody>
          <a:bodyPr lIns="0" tIns="0" rIns="0" bIns="0" rtlCol="0" anchor="t">
            <a:spAutoFit/>
          </a:bodyPr>
          <a:lstStyle/>
          <a:p>
            <a:pPr algn="ctr">
              <a:lnSpc>
                <a:spcPts val="4545"/>
              </a:lnSpc>
            </a:pPr>
            <a:r>
              <a:rPr lang="en-US" sz="4000" b="1" dirty="0">
                <a:solidFill>
                  <a:srgbClr val="161B1C"/>
                </a:solidFill>
                <a:latin typeface="Nyutro Sans"/>
                <a:ea typeface="Nyutro Sans"/>
                <a:cs typeface="Nyutro Sans"/>
                <a:sym typeface="Nyutro Sans"/>
              </a:rPr>
              <a:t>Supervised By:</a:t>
            </a:r>
          </a:p>
          <a:p>
            <a:pPr algn="ctr">
              <a:lnSpc>
                <a:spcPts val="4545"/>
              </a:lnSpc>
            </a:pPr>
            <a:r>
              <a:rPr lang="en-US" sz="4000" b="1" dirty="0">
                <a:solidFill>
                  <a:srgbClr val="161B1C"/>
                </a:solidFill>
                <a:latin typeface="Nyutro Sans"/>
                <a:ea typeface="Nyutro Sans"/>
                <a:cs typeface="Nyutro Sans"/>
                <a:sym typeface="Nyutro Sans"/>
              </a:rPr>
              <a:t>Dr. Gireesh Kumar</a:t>
            </a:r>
          </a:p>
        </p:txBody>
      </p:sp>
      <p:sp>
        <p:nvSpPr>
          <p:cNvPr id="11" name="TextBox 11"/>
          <p:cNvSpPr txBox="1"/>
          <p:nvPr/>
        </p:nvSpPr>
        <p:spPr>
          <a:xfrm>
            <a:off x="643684" y="7054719"/>
            <a:ext cx="4244963" cy="1615827"/>
          </a:xfrm>
          <a:prstGeom prst="rect">
            <a:avLst/>
          </a:prstGeom>
        </p:spPr>
        <p:txBody>
          <a:bodyPr lIns="0" tIns="0" rIns="0" bIns="0" rtlCol="0" anchor="t">
            <a:spAutoFit/>
          </a:bodyPr>
          <a:lstStyle/>
          <a:p>
            <a:pPr algn="ctr">
              <a:lnSpc>
                <a:spcPts val="4228"/>
              </a:lnSpc>
            </a:pPr>
            <a:r>
              <a:rPr lang="en-US" sz="3600" b="1" dirty="0">
                <a:solidFill>
                  <a:srgbClr val="161B1C"/>
                </a:solidFill>
                <a:latin typeface="Nyutro Sans"/>
                <a:ea typeface="Nyutro Sans"/>
                <a:cs typeface="Nyutro Sans"/>
                <a:sym typeface="Nyutro Sans"/>
              </a:rPr>
              <a:t>Submitted By:</a:t>
            </a:r>
          </a:p>
          <a:p>
            <a:pPr algn="ctr">
              <a:lnSpc>
                <a:spcPts val="4228"/>
              </a:lnSpc>
            </a:pPr>
            <a:r>
              <a:rPr lang="en-US" sz="3600" b="1" dirty="0">
                <a:solidFill>
                  <a:srgbClr val="161B1C"/>
                </a:solidFill>
                <a:latin typeface="Nyutro Sans"/>
                <a:ea typeface="Nyutro Sans"/>
                <a:cs typeface="Nyutro Sans"/>
                <a:sym typeface="Nyutro Sans"/>
              </a:rPr>
              <a:t>Tanishq Goel</a:t>
            </a:r>
          </a:p>
          <a:p>
            <a:pPr algn="ctr">
              <a:lnSpc>
                <a:spcPts val="4228"/>
              </a:lnSpc>
            </a:pPr>
            <a:r>
              <a:rPr lang="en-US" sz="3600" b="1" dirty="0">
                <a:solidFill>
                  <a:srgbClr val="161B1C"/>
                </a:solidFill>
                <a:latin typeface="Nyutro Sans"/>
                <a:ea typeface="Nyutro Sans"/>
                <a:cs typeface="Nyutro Sans"/>
                <a:sym typeface="Nyutro Sans"/>
              </a:rPr>
              <a:t>2427030744</a:t>
            </a:r>
          </a:p>
        </p:txBody>
      </p:sp>
      <p:sp>
        <p:nvSpPr>
          <p:cNvPr id="12" name="TextBox 12"/>
          <p:cNvSpPr txBox="1"/>
          <p:nvPr/>
        </p:nvSpPr>
        <p:spPr>
          <a:xfrm>
            <a:off x="2299746" y="2351967"/>
            <a:ext cx="13688509" cy="1147750"/>
          </a:xfrm>
          <a:prstGeom prst="rect">
            <a:avLst/>
          </a:prstGeom>
        </p:spPr>
        <p:txBody>
          <a:bodyPr lIns="0" tIns="0" rIns="0" bIns="0" rtlCol="0" anchor="t">
            <a:spAutoFit/>
          </a:bodyPr>
          <a:lstStyle/>
          <a:p>
            <a:pPr algn="ctr">
              <a:lnSpc>
                <a:spcPts val="4559"/>
              </a:lnSpc>
            </a:pPr>
            <a:r>
              <a:rPr lang="en-US" sz="3600" b="1" dirty="0">
                <a:solidFill>
                  <a:srgbClr val="161B1C"/>
                </a:solidFill>
                <a:latin typeface="Nyutro Sans"/>
                <a:ea typeface="Nyutro Sans"/>
                <a:cs typeface="Nyutro Sans"/>
                <a:sym typeface="Nyutro Sans"/>
              </a:rPr>
              <a:t>School of Computer Science and Engineering</a:t>
            </a:r>
          </a:p>
          <a:p>
            <a:pPr algn="ctr">
              <a:lnSpc>
                <a:spcPts val="4559"/>
              </a:lnSpc>
            </a:pPr>
            <a:r>
              <a:rPr lang="en-US" sz="3600" b="1" dirty="0">
                <a:solidFill>
                  <a:srgbClr val="161B1C"/>
                </a:solidFill>
                <a:latin typeface="Nyutro Sans"/>
                <a:ea typeface="Nyutro Sans"/>
                <a:cs typeface="Nyutro Sans"/>
                <a:sym typeface="Nyutro Sans"/>
              </a:rPr>
              <a:t>Department of Computer Science and Engineering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A0E5C-2DCA-299E-0F4E-B1B394E0ACE5}"/>
              </a:ext>
            </a:extLst>
          </p:cNvPr>
          <p:cNvSpPr>
            <a:spLocks noGrp="1"/>
          </p:cNvSpPr>
          <p:nvPr>
            <p:ph type="title"/>
          </p:nvPr>
        </p:nvSpPr>
        <p:spPr>
          <a:xfrm>
            <a:off x="457200" y="274638"/>
            <a:ext cx="17373600" cy="2430462"/>
          </a:xfrm>
        </p:spPr>
        <p:txBody>
          <a:bodyPr>
            <a:normAutofit/>
          </a:bodyPr>
          <a:lstStyle/>
          <a:p>
            <a:pPr algn="ctr"/>
            <a:r>
              <a:rPr lang="en-IN" sz="4800" b="1" dirty="0">
                <a:latin typeface="ADLaM Display" panose="02010000000000000000" pitchFamily="2" charset="0"/>
                <a:ea typeface="ADLaM Display" panose="02010000000000000000" pitchFamily="2" charset="0"/>
                <a:cs typeface="ADLaM Display" panose="02010000000000000000" pitchFamily="2" charset="0"/>
              </a:rPr>
              <a:t>INTRODUCTION</a:t>
            </a:r>
          </a:p>
        </p:txBody>
      </p:sp>
      <p:sp>
        <p:nvSpPr>
          <p:cNvPr id="3" name="Content Placeholder 2">
            <a:extLst>
              <a:ext uri="{FF2B5EF4-FFF2-40B4-BE49-F238E27FC236}">
                <a16:creationId xmlns:a16="http://schemas.microsoft.com/office/drawing/2014/main" id="{8674DEE8-5AAF-AA1D-53C5-6541B0EAAB0E}"/>
              </a:ext>
            </a:extLst>
          </p:cNvPr>
          <p:cNvSpPr>
            <a:spLocks noGrp="1"/>
          </p:cNvSpPr>
          <p:nvPr>
            <p:ph idx="1"/>
          </p:nvPr>
        </p:nvSpPr>
        <p:spPr>
          <a:xfrm>
            <a:off x="2286000" y="3467100"/>
            <a:ext cx="13639800" cy="6096000"/>
          </a:xfrm>
        </p:spPr>
        <p:txBody>
          <a:bodyPr>
            <a:normAutofit/>
          </a:bodyPr>
          <a:lstStyle/>
          <a:p>
            <a:pPr marL="0" indent="0" algn="ctr">
              <a:buNone/>
            </a:pPr>
            <a:r>
              <a:rPr lang="en-US" sz="3600" b="1" dirty="0"/>
              <a:t>Gene-based disease classification is a significant focus in biomedical and machine learning research. It is particularly important for the early diagnosis of diseases like cancer. However, gene expression datasets are very complex. They include thousands of features. Yet, they have very few samples. There are some problems in noise overfitting and high dimensionality .</a:t>
            </a:r>
            <a:endParaRPr lang="en-IN" sz="3600" b="1" dirty="0"/>
          </a:p>
        </p:txBody>
      </p:sp>
    </p:spTree>
    <p:extLst>
      <p:ext uri="{BB962C8B-B14F-4D97-AF65-F5344CB8AC3E}">
        <p14:creationId xmlns:p14="http://schemas.microsoft.com/office/powerpoint/2010/main" val="880720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a:extLst>
            <a:ext uri="{FF2B5EF4-FFF2-40B4-BE49-F238E27FC236}">
              <a16:creationId xmlns:a16="http://schemas.microsoft.com/office/drawing/2014/main" id="{25A22B2D-E1E7-BB92-B84A-88635987A0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356C2D-1379-5525-D565-9778C2161EC7}"/>
              </a:ext>
            </a:extLst>
          </p:cNvPr>
          <p:cNvSpPr>
            <a:spLocks noGrp="1"/>
          </p:cNvSpPr>
          <p:nvPr>
            <p:ph type="title"/>
          </p:nvPr>
        </p:nvSpPr>
        <p:spPr>
          <a:xfrm>
            <a:off x="2177368" y="1206778"/>
            <a:ext cx="14404913" cy="1573853"/>
          </a:xfrm>
        </p:spPr>
        <p:txBody>
          <a:bodyPr>
            <a:normAutofit/>
          </a:bodyPr>
          <a:lstStyle/>
          <a:p>
            <a:r>
              <a:rPr lang="en-IN" b="1" dirty="0">
                <a:latin typeface="ADLaM Display" panose="02010000000000000000" pitchFamily="2" charset="0"/>
                <a:ea typeface="ADLaM Display" panose="02010000000000000000" pitchFamily="2" charset="0"/>
                <a:cs typeface="ADLaM Display" panose="02010000000000000000" pitchFamily="2" charset="0"/>
              </a:rPr>
              <a:t>Literature review</a:t>
            </a:r>
          </a:p>
        </p:txBody>
      </p:sp>
      <p:sp>
        <p:nvSpPr>
          <p:cNvPr id="3" name="Content Placeholder 2">
            <a:extLst>
              <a:ext uri="{FF2B5EF4-FFF2-40B4-BE49-F238E27FC236}">
                <a16:creationId xmlns:a16="http://schemas.microsoft.com/office/drawing/2014/main" id="{9D1BDF4E-597F-BE87-B3A2-144BA4FDDCAA}"/>
              </a:ext>
            </a:extLst>
          </p:cNvPr>
          <p:cNvSpPr>
            <a:spLocks noGrp="1"/>
          </p:cNvSpPr>
          <p:nvPr>
            <p:ph idx="1"/>
          </p:nvPr>
        </p:nvSpPr>
        <p:spPr>
          <a:xfrm>
            <a:off x="2177368" y="3023601"/>
            <a:ext cx="8433426" cy="5175919"/>
          </a:xfrm>
        </p:spPr>
        <p:txBody>
          <a:bodyPr>
            <a:normAutofit fontScale="92500"/>
          </a:bodyPr>
          <a:lstStyle/>
          <a:p>
            <a:pPr marL="0" indent="0">
              <a:lnSpc>
                <a:spcPct val="110000"/>
              </a:lnSpc>
              <a:buNone/>
            </a:pPr>
            <a:r>
              <a:rPr lang="en-US" sz="2800" b="1" dirty="0"/>
              <a:t>Gene expression data is widely used for disease classification, but it faces challenges like high dimensionality and limited samples, leading to poor accuracy. PSO is used for selecting important genes and improving performance, but it does not solve the problem of limited data. On the other hand, GAN and VAE help by generating additional data and reducing overfitting, but they do not perform feature selection. Therefore, a hybrid approach combining these techniques is needed to handle both issues and improve classification accuracy</a:t>
            </a:r>
            <a:endParaRPr lang="en-IN" sz="2400" b="1" dirty="0"/>
          </a:p>
        </p:txBody>
      </p:sp>
      <p:pic>
        <p:nvPicPr>
          <p:cNvPr id="7" name="Graphic 6" descr="Finger Print">
            <a:extLst>
              <a:ext uri="{FF2B5EF4-FFF2-40B4-BE49-F238E27FC236}">
                <a16:creationId xmlns:a16="http://schemas.microsoft.com/office/drawing/2014/main" id="{40AA0EB5-B80B-B162-05EE-26DBBA0FE9C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1368785" y="3023601"/>
            <a:ext cx="5175919" cy="5175919"/>
          </a:xfrm>
          <a:prstGeom prst="rect">
            <a:avLst/>
          </a:prstGeom>
        </p:spPr>
      </p:pic>
    </p:spTree>
    <p:extLst>
      <p:ext uri="{BB962C8B-B14F-4D97-AF65-F5344CB8AC3E}">
        <p14:creationId xmlns:p14="http://schemas.microsoft.com/office/powerpoint/2010/main" val="28863026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a:extLst>
            <a:ext uri="{FF2B5EF4-FFF2-40B4-BE49-F238E27FC236}">
              <a16:creationId xmlns:a16="http://schemas.microsoft.com/office/drawing/2014/main" id="{88553385-5F82-FC6B-6DE3-869933EE81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0507F1-4C7E-964F-BB04-A70B76F16E7E}"/>
              </a:ext>
            </a:extLst>
          </p:cNvPr>
          <p:cNvSpPr>
            <a:spLocks noGrp="1"/>
          </p:cNvSpPr>
          <p:nvPr>
            <p:ph type="title"/>
          </p:nvPr>
        </p:nvSpPr>
        <p:spPr>
          <a:xfrm>
            <a:off x="2177368" y="1206778"/>
            <a:ext cx="14404913" cy="1573853"/>
          </a:xfrm>
        </p:spPr>
        <p:txBody>
          <a:bodyPr>
            <a:normAutofit/>
          </a:bodyPr>
          <a:lstStyle/>
          <a:p>
            <a:r>
              <a:rPr lang="en-IN" b="1" dirty="0">
                <a:latin typeface="ADLaM Display" panose="02010000000000000000" pitchFamily="2" charset="0"/>
                <a:ea typeface="ADLaM Display" panose="02010000000000000000" pitchFamily="2" charset="0"/>
                <a:cs typeface="ADLaM Display" panose="02010000000000000000" pitchFamily="2" charset="0"/>
              </a:rPr>
              <a:t>Research gap</a:t>
            </a:r>
          </a:p>
        </p:txBody>
      </p:sp>
      <p:sp>
        <p:nvSpPr>
          <p:cNvPr id="4" name="Rectangle 1">
            <a:extLst>
              <a:ext uri="{FF2B5EF4-FFF2-40B4-BE49-F238E27FC236}">
                <a16:creationId xmlns:a16="http://schemas.microsoft.com/office/drawing/2014/main" id="{7C9E4BAC-C12E-3214-9FDD-15290AF69A88}"/>
              </a:ext>
            </a:extLst>
          </p:cNvPr>
          <p:cNvSpPr>
            <a:spLocks noGrp="1" noChangeArrowheads="1"/>
          </p:cNvSpPr>
          <p:nvPr>
            <p:ph idx="1"/>
          </p:nvPr>
        </p:nvSpPr>
        <p:spPr bwMode="auto">
          <a:xfrm>
            <a:off x="2177368" y="3023601"/>
            <a:ext cx="9293676" cy="5175919"/>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marL="0" marR="0" lvl="0" indent="0" defTabSz="914400" rtl="0" eaLnBrk="0" fontAlgn="base" latinLnBrk="0" hangingPunct="0">
              <a:lnSpc>
                <a:spcPct val="110000"/>
              </a:lnSpc>
              <a:spcBef>
                <a:spcPct val="0"/>
              </a:spcBef>
              <a:spcAft>
                <a:spcPts val="600"/>
              </a:spcAft>
              <a:buClrTx/>
              <a:buSzTx/>
              <a:buFontTx/>
              <a:buNone/>
              <a:tabLst/>
            </a:pPr>
            <a:endParaRPr kumimoji="0" lang="en-US" altLang="en-US" b="0" i="0" u="none" strike="noStrike" cap="none" normalizeH="0" baseline="0" dirty="0">
              <a:ln>
                <a:noFill/>
              </a:ln>
              <a:effectLst/>
              <a:latin typeface="Arial" panose="020B0604020202020204" pitchFamily="34" charset="0"/>
            </a:endParaRPr>
          </a:p>
          <a:p>
            <a:pPr marL="0" marR="0" lvl="0" indent="0" defTabSz="914400" rtl="0" eaLnBrk="0" fontAlgn="base" latinLnBrk="0" hangingPunct="0">
              <a:lnSpc>
                <a:spcPct val="110000"/>
              </a:lnSpc>
              <a:spcBef>
                <a:spcPct val="0"/>
              </a:spcBef>
              <a:spcAft>
                <a:spcPts val="600"/>
              </a:spcAft>
              <a:buClrTx/>
              <a:buSzTx/>
              <a:buFontTx/>
              <a:buChar char="•"/>
              <a:tabLst/>
            </a:pPr>
            <a:r>
              <a:rPr kumimoji="0" lang="en-US" altLang="en-US" b="1" i="0" u="none" strike="noStrike" cap="none" normalizeH="0" baseline="0" dirty="0">
                <a:ln>
                  <a:noFill/>
                </a:ln>
                <a:effectLst/>
                <a:latin typeface="Arial" panose="020B0604020202020204" pitchFamily="34" charset="0"/>
              </a:rPr>
              <a:t>PSO, GAN, and VAE are effective individually </a:t>
            </a:r>
          </a:p>
          <a:p>
            <a:pPr marL="0" marR="0" lvl="0" indent="0" defTabSz="914400" rtl="0" eaLnBrk="0" fontAlgn="base" latinLnBrk="0" hangingPunct="0">
              <a:lnSpc>
                <a:spcPct val="110000"/>
              </a:lnSpc>
              <a:spcBef>
                <a:spcPct val="0"/>
              </a:spcBef>
              <a:spcAft>
                <a:spcPts val="600"/>
              </a:spcAft>
              <a:buClrTx/>
              <a:buSzTx/>
              <a:buFontTx/>
              <a:buChar char="•"/>
              <a:tabLst/>
            </a:pPr>
            <a:r>
              <a:rPr kumimoji="0" lang="en-US" altLang="en-US" b="1" i="0" u="none" strike="noStrike" cap="none" normalizeH="0" baseline="0" dirty="0">
                <a:ln>
                  <a:noFill/>
                </a:ln>
                <a:effectLst/>
                <a:latin typeface="Arial" panose="020B0604020202020204" pitchFamily="34" charset="0"/>
              </a:rPr>
              <a:t>GAN/VAE </a:t>
            </a:r>
            <a:r>
              <a:rPr kumimoji="0" lang="en-US" altLang="en-US" b="1" i="0" u="none" strike="noStrike" cap="none" normalizeH="0" baseline="0" dirty="0">
                <a:ln>
                  <a:noFill/>
                </a:ln>
                <a:effectLst/>
                <a:latin typeface="Arial" panose="020B0604020202020204" pitchFamily="34" charset="0"/>
                <a:sym typeface="Wingdings" panose="05000000000000000000" pitchFamily="2" charset="2"/>
              </a:rPr>
              <a:t></a:t>
            </a:r>
            <a:r>
              <a:rPr kumimoji="0" lang="en-US" altLang="en-US" b="1" i="0" u="none" strike="noStrike" cap="none" normalizeH="0" baseline="0" dirty="0">
                <a:ln>
                  <a:noFill/>
                </a:ln>
                <a:effectLst/>
                <a:latin typeface="Arial" panose="020B0604020202020204" pitchFamily="34" charset="0"/>
              </a:rPr>
              <a:t> used for data augmentation </a:t>
            </a:r>
          </a:p>
          <a:p>
            <a:pPr marL="0" marR="0" lvl="0" indent="0" defTabSz="914400" rtl="0" eaLnBrk="0" fontAlgn="base" latinLnBrk="0" hangingPunct="0">
              <a:lnSpc>
                <a:spcPct val="110000"/>
              </a:lnSpc>
              <a:spcBef>
                <a:spcPct val="0"/>
              </a:spcBef>
              <a:spcAft>
                <a:spcPts val="600"/>
              </a:spcAft>
              <a:buClrTx/>
              <a:buSzTx/>
              <a:buFontTx/>
              <a:buChar char="•"/>
              <a:tabLst/>
            </a:pPr>
            <a:r>
              <a:rPr kumimoji="0" lang="en-US" altLang="en-US" b="1" i="0" u="none" strike="noStrike" cap="none" normalizeH="0" baseline="0" dirty="0">
                <a:ln>
                  <a:noFill/>
                </a:ln>
                <a:effectLst/>
                <a:latin typeface="Arial" panose="020B0604020202020204" pitchFamily="34" charset="0"/>
              </a:rPr>
              <a:t>PSO </a:t>
            </a:r>
            <a:r>
              <a:rPr kumimoji="0" lang="en-US" altLang="en-US" b="1" i="0" u="none" strike="noStrike" cap="none" normalizeH="0" baseline="0" dirty="0">
                <a:ln>
                  <a:noFill/>
                </a:ln>
                <a:effectLst/>
                <a:latin typeface="Arial" panose="020B0604020202020204" pitchFamily="34" charset="0"/>
                <a:sym typeface="Wingdings" panose="05000000000000000000" pitchFamily="2" charset="2"/>
              </a:rPr>
              <a:t></a:t>
            </a:r>
            <a:r>
              <a:rPr kumimoji="0" lang="en-US" altLang="en-US" b="1" i="0" u="none" strike="noStrike" cap="none" normalizeH="0" baseline="0" dirty="0">
                <a:ln>
                  <a:noFill/>
                </a:ln>
                <a:effectLst/>
                <a:latin typeface="Arial" panose="020B0604020202020204" pitchFamily="34" charset="0"/>
              </a:rPr>
              <a:t> used for feature selection </a:t>
            </a:r>
          </a:p>
          <a:p>
            <a:pPr marL="0" marR="0" lvl="0" indent="0" defTabSz="914400" rtl="0" eaLnBrk="0" fontAlgn="base" latinLnBrk="0" hangingPunct="0">
              <a:lnSpc>
                <a:spcPct val="110000"/>
              </a:lnSpc>
              <a:spcBef>
                <a:spcPct val="0"/>
              </a:spcBef>
              <a:spcAft>
                <a:spcPts val="600"/>
              </a:spcAft>
              <a:buClrTx/>
              <a:buSzTx/>
              <a:buFontTx/>
              <a:buChar char="•"/>
              <a:tabLst/>
            </a:pPr>
            <a:r>
              <a:rPr kumimoji="0" lang="en-US" altLang="en-US" b="1" i="0" u="none" strike="noStrike" cap="none" normalizeH="0" baseline="0" dirty="0">
                <a:ln>
                  <a:noFill/>
                </a:ln>
                <a:effectLst/>
                <a:latin typeface="Arial" panose="020B0604020202020204" pitchFamily="34" charset="0"/>
              </a:rPr>
              <a:t>These methods are used separately </a:t>
            </a:r>
          </a:p>
          <a:p>
            <a:pPr marL="0" marR="0" lvl="0" indent="0" defTabSz="914400" rtl="0" eaLnBrk="0" fontAlgn="base" latinLnBrk="0" hangingPunct="0">
              <a:lnSpc>
                <a:spcPct val="110000"/>
              </a:lnSpc>
              <a:spcBef>
                <a:spcPct val="0"/>
              </a:spcBef>
              <a:spcAft>
                <a:spcPts val="600"/>
              </a:spcAft>
              <a:buClrTx/>
              <a:buSzTx/>
              <a:buFontTx/>
              <a:buChar char="•"/>
              <a:tabLst/>
            </a:pPr>
            <a:r>
              <a:rPr kumimoji="0" lang="en-US" altLang="en-US" b="1" i="0" u="none" strike="noStrike" cap="none" normalizeH="0" baseline="0" dirty="0">
                <a:ln>
                  <a:noFill/>
                </a:ln>
                <a:effectLst/>
                <a:latin typeface="Arial" panose="020B0604020202020204" pitchFamily="34" charset="0"/>
              </a:rPr>
              <a:t>Data scarcity and high dimensionality remain unsolved </a:t>
            </a:r>
          </a:p>
          <a:p>
            <a:pPr marL="0" marR="0" lvl="0" indent="0" defTabSz="914400" rtl="0" eaLnBrk="0" fontAlgn="base" latinLnBrk="0" hangingPunct="0">
              <a:lnSpc>
                <a:spcPct val="110000"/>
              </a:lnSpc>
              <a:spcBef>
                <a:spcPct val="0"/>
              </a:spcBef>
              <a:spcAft>
                <a:spcPts val="600"/>
              </a:spcAft>
              <a:buClrTx/>
              <a:buSzTx/>
              <a:buFontTx/>
              <a:buChar char="•"/>
              <a:tabLst/>
            </a:pPr>
            <a:r>
              <a:rPr kumimoji="0" lang="en-US" altLang="en-US" b="1" i="0" u="none" strike="noStrike" cap="none" normalizeH="0" baseline="0" dirty="0">
                <a:ln>
                  <a:noFill/>
                </a:ln>
                <a:effectLst/>
                <a:latin typeface="Arial" panose="020B0604020202020204" pitchFamily="34" charset="0"/>
              </a:rPr>
              <a:t>Leads to low accuracy and poor performance </a:t>
            </a:r>
          </a:p>
          <a:p>
            <a:pPr marL="0" marR="0" lvl="0" indent="0" defTabSz="914400" rtl="0" eaLnBrk="0" fontAlgn="base" latinLnBrk="0" hangingPunct="0">
              <a:lnSpc>
                <a:spcPct val="110000"/>
              </a:lnSpc>
              <a:spcBef>
                <a:spcPct val="0"/>
              </a:spcBef>
              <a:spcAft>
                <a:spcPts val="600"/>
              </a:spcAft>
              <a:buClrTx/>
              <a:buSzTx/>
              <a:buFontTx/>
              <a:buChar char="•"/>
              <a:tabLst/>
            </a:pPr>
            <a:r>
              <a:rPr kumimoji="0" lang="en-US" altLang="en-US" b="1" i="0" u="none" strike="noStrike" cap="none" normalizeH="0" baseline="0" dirty="0">
                <a:ln>
                  <a:noFill/>
                </a:ln>
                <a:effectLst/>
                <a:latin typeface="Arial" panose="020B0604020202020204" pitchFamily="34" charset="0"/>
              </a:rPr>
              <a:t>No proper hybrid framework exists </a:t>
            </a:r>
          </a:p>
        </p:txBody>
      </p:sp>
      <p:pic>
        <p:nvPicPr>
          <p:cNvPr id="7" name="Graphic 6" descr="Laptop Secure">
            <a:extLst>
              <a:ext uri="{FF2B5EF4-FFF2-40B4-BE49-F238E27FC236}">
                <a16:creationId xmlns:a16="http://schemas.microsoft.com/office/drawing/2014/main" id="{5511ED17-ACA3-2B44-F992-7ECC464D1F8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2193134" y="3416987"/>
            <a:ext cx="4389147" cy="4389147"/>
          </a:xfrm>
          <a:prstGeom prst="rect">
            <a:avLst/>
          </a:prstGeom>
        </p:spPr>
      </p:pic>
    </p:spTree>
    <p:extLst>
      <p:ext uri="{BB962C8B-B14F-4D97-AF65-F5344CB8AC3E}">
        <p14:creationId xmlns:p14="http://schemas.microsoft.com/office/powerpoint/2010/main" val="6416249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a:extLst>
            <a:ext uri="{FF2B5EF4-FFF2-40B4-BE49-F238E27FC236}">
              <a16:creationId xmlns:a16="http://schemas.microsoft.com/office/drawing/2014/main" id="{5BA54A1C-F7D8-0080-B3CD-A100E43D15B7}"/>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5C3D674-3D59-4E93-80CA-0C0A9095E8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0"/>
            <a:ext cx="18287542" cy="10287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2" name="Straight Connector 11">
            <a:extLst>
              <a:ext uri="{FF2B5EF4-FFF2-40B4-BE49-F238E27FC236}">
                <a16:creationId xmlns:a16="http://schemas.microsoft.com/office/drawing/2014/main" id="{C884B8F8-FDC9-498B-9960-5D7260AFCB0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180844" y="2770632"/>
            <a:ext cx="6266059"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2" name="Title 1">
            <a:extLst>
              <a:ext uri="{FF2B5EF4-FFF2-40B4-BE49-F238E27FC236}">
                <a16:creationId xmlns:a16="http://schemas.microsoft.com/office/drawing/2014/main" id="{3FE4AE02-617E-484E-284B-290A3D3283B0}"/>
              </a:ext>
            </a:extLst>
          </p:cNvPr>
          <p:cNvSpPr>
            <a:spLocks noGrp="1"/>
          </p:cNvSpPr>
          <p:nvPr>
            <p:ph type="title"/>
          </p:nvPr>
        </p:nvSpPr>
        <p:spPr>
          <a:xfrm>
            <a:off x="2177370" y="1206780"/>
            <a:ext cx="6264766" cy="1573852"/>
          </a:xfrm>
        </p:spPr>
        <p:txBody>
          <a:bodyPr>
            <a:normAutofit/>
          </a:bodyPr>
          <a:lstStyle/>
          <a:p>
            <a:r>
              <a:rPr lang="en-IN" sz="5400" b="1" dirty="0">
                <a:latin typeface="ADLaM Display" panose="02010000000000000000" pitchFamily="2" charset="0"/>
                <a:ea typeface="ADLaM Display" panose="02010000000000000000" pitchFamily="2" charset="0"/>
                <a:cs typeface="ADLaM Display" panose="02010000000000000000" pitchFamily="2" charset="0"/>
              </a:rPr>
              <a:t>objectives</a:t>
            </a:r>
          </a:p>
        </p:txBody>
      </p:sp>
      <p:sp>
        <p:nvSpPr>
          <p:cNvPr id="14" name="Rectangle 13">
            <a:extLst>
              <a:ext uri="{FF2B5EF4-FFF2-40B4-BE49-F238E27FC236}">
                <a16:creationId xmlns:a16="http://schemas.microsoft.com/office/drawing/2014/main" id="{EF2A81E1-BCBE-426B-8C09-33274E6940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029214"/>
            <a:ext cx="18288000" cy="615891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dirty="0"/>
          </a:p>
        </p:txBody>
      </p:sp>
      <p:pic>
        <p:nvPicPr>
          <p:cNvPr id="7" name="Graphic 6" descr="DNA">
            <a:extLst>
              <a:ext uri="{FF2B5EF4-FFF2-40B4-BE49-F238E27FC236}">
                <a16:creationId xmlns:a16="http://schemas.microsoft.com/office/drawing/2014/main" id="{D67B8916-58C2-AED5-088D-150BCB00DB0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9366376" y="1208374"/>
            <a:ext cx="6991143" cy="6991143"/>
          </a:xfrm>
          <a:prstGeom prst="rect">
            <a:avLst/>
          </a:prstGeom>
        </p:spPr>
      </p:pic>
      <p:pic>
        <p:nvPicPr>
          <p:cNvPr id="16" name="Picture 15">
            <a:extLst>
              <a:ext uri="{FF2B5EF4-FFF2-40B4-BE49-F238E27FC236}">
                <a16:creationId xmlns:a16="http://schemas.microsoft.com/office/drawing/2014/main" id="{39D1DDD4-5BB3-45BA-B9B3-06B62299AD7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t="1538" b="-1538"/>
          <a:stretch/>
        </p:blipFill>
        <p:spPr bwMode="black">
          <a:xfrm>
            <a:off x="0" y="9189720"/>
            <a:ext cx="18288000" cy="1114425"/>
          </a:xfrm>
          <a:prstGeom prst="rect">
            <a:avLst/>
          </a:prstGeom>
        </p:spPr>
      </p:pic>
      <p:cxnSp>
        <p:nvCxnSpPr>
          <p:cNvPr id="18" name="Straight Connector 17">
            <a:extLst>
              <a:ext uri="{FF2B5EF4-FFF2-40B4-BE49-F238E27FC236}">
                <a16:creationId xmlns:a16="http://schemas.microsoft.com/office/drawing/2014/main" id="{A24DAE64-2302-42EA-8239-F2F0775CA5A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9192619"/>
            <a:ext cx="18288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
        <p:nvSpPr>
          <p:cNvPr id="5" name="Rectangle 2">
            <a:extLst>
              <a:ext uri="{FF2B5EF4-FFF2-40B4-BE49-F238E27FC236}">
                <a16:creationId xmlns:a16="http://schemas.microsoft.com/office/drawing/2014/main" id="{AB30D400-6710-BA74-E94D-9B18AB6C72DF}"/>
              </a:ext>
            </a:extLst>
          </p:cNvPr>
          <p:cNvSpPr>
            <a:spLocks noGrp="1" noChangeArrowheads="1"/>
          </p:cNvSpPr>
          <p:nvPr>
            <p:ph idx="1"/>
          </p:nvPr>
        </p:nvSpPr>
        <p:spPr bwMode="auto">
          <a:xfrm>
            <a:off x="1371600" y="3152245"/>
            <a:ext cx="8728812" cy="56938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Arial" panose="020B0604020202020204" pitchFamily="34" charset="0"/>
              </a:rPr>
              <a:t>To handle the problem of too many genes</a:t>
            </a:r>
            <a:br>
              <a:rPr kumimoji="0" lang="en-US" altLang="en-US" sz="2800" b="1" i="0" u="none" strike="noStrike" cap="none" normalizeH="0" baseline="0" dirty="0">
                <a:ln>
                  <a:noFill/>
                </a:ln>
                <a:solidFill>
                  <a:schemeClr val="tx1"/>
                </a:solidFill>
                <a:effectLst/>
                <a:latin typeface="Arial" panose="020B0604020202020204" pitchFamily="34" charset="0"/>
              </a:rPr>
            </a:br>
            <a:r>
              <a:rPr kumimoji="0" lang="en-US" altLang="en-US" sz="2800" b="1" i="0" u="none" strike="noStrike" cap="none" normalizeH="0" baseline="0" dirty="0">
                <a:ln>
                  <a:noFill/>
                </a:ln>
                <a:solidFill>
                  <a:schemeClr val="tx1"/>
                </a:solidFill>
                <a:effectLst/>
                <a:latin typeface="Arial" panose="020B0604020202020204" pitchFamily="34" charset="0"/>
              </a:rPr>
              <a:t> Select only important genes using PSO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Arial" panose="020B0604020202020204" pitchFamily="34" charset="0"/>
              </a:rPr>
              <a:t>To solve the problem of limited data</a:t>
            </a:r>
            <a:br>
              <a:rPr kumimoji="0" lang="en-US" altLang="en-US" sz="2800" b="1" i="0" u="none" strike="noStrike" cap="none" normalizeH="0" baseline="0" dirty="0">
                <a:ln>
                  <a:noFill/>
                </a:ln>
                <a:solidFill>
                  <a:schemeClr val="tx1"/>
                </a:solidFill>
                <a:effectLst/>
                <a:latin typeface="Arial" panose="020B0604020202020204" pitchFamily="34" charset="0"/>
              </a:rPr>
            </a:br>
            <a:r>
              <a:rPr kumimoji="0" lang="en-US" altLang="en-US" sz="2800" b="1" i="0" u="none" strike="noStrike" cap="none" normalizeH="0" baseline="0" dirty="0">
                <a:ln>
                  <a:noFill/>
                </a:ln>
                <a:solidFill>
                  <a:schemeClr val="tx1"/>
                </a:solidFill>
                <a:effectLst/>
                <a:latin typeface="Arial" panose="020B0604020202020204" pitchFamily="34" charset="0"/>
              </a:rPr>
              <a:t>Generate new data using GAN/VAE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Arial" panose="020B0604020202020204" pitchFamily="34" charset="0"/>
              </a:rPr>
              <a:t>To improve accuracy</a:t>
            </a:r>
            <a:br>
              <a:rPr kumimoji="0" lang="en-US" altLang="en-US" sz="2800" b="1" i="0" u="none" strike="noStrike" cap="none" normalizeH="0" baseline="0" dirty="0">
                <a:ln>
                  <a:noFill/>
                </a:ln>
                <a:solidFill>
                  <a:schemeClr val="tx1"/>
                </a:solidFill>
                <a:effectLst/>
                <a:latin typeface="Arial" panose="020B0604020202020204" pitchFamily="34" charset="0"/>
              </a:rPr>
            </a:br>
            <a:r>
              <a:rPr kumimoji="0" lang="en-US" altLang="en-US" sz="2800" b="1" i="0" u="none" strike="noStrike" cap="none" normalizeH="0" baseline="0" dirty="0">
                <a:ln>
                  <a:noFill/>
                </a:ln>
                <a:solidFill>
                  <a:schemeClr val="tx1"/>
                </a:solidFill>
                <a:effectLst/>
                <a:latin typeface="Arial" panose="020B0604020202020204" pitchFamily="34" charset="0"/>
              </a:rPr>
              <a:t> Better data + better features = better results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Arial" panose="020B0604020202020204" pitchFamily="34" charset="0"/>
              </a:rPr>
              <a:t>To reduce overfitting</a:t>
            </a:r>
            <a:br>
              <a:rPr kumimoji="0" lang="en-US" altLang="en-US" sz="2800" b="1" i="0" u="none" strike="noStrike" cap="none" normalizeH="0" baseline="0" dirty="0">
                <a:ln>
                  <a:noFill/>
                </a:ln>
                <a:solidFill>
                  <a:schemeClr val="tx1"/>
                </a:solidFill>
                <a:effectLst/>
                <a:latin typeface="Arial" panose="020B0604020202020204" pitchFamily="34" charset="0"/>
              </a:rPr>
            </a:br>
            <a:r>
              <a:rPr kumimoji="0" lang="en-US" altLang="en-US" sz="2800" b="1" i="0" u="none" strike="noStrike" cap="none" normalizeH="0" baseline="0" dirty="0">
                <a:ln>
                  <a:noFill/>
                </a:ln>
                <a:solidFill>
                  <a:schemeClr val="tx1"/>
                </a:solidFill>
                <a:effectLst/>
                <a:latin typeface="Arial" panose="020B0604020202020204" pitchFamily="34" charset="0"/>
              </a:rPr>
              <a:t> Make the model strong so it works well on new data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Arial" panose="020B0604020202020204" pitchFamily="34" charset="0"/>
              </a:rPr>
              <a:t>To build a hybrid model</a:t>
            </a:r>
            <a:br>
              <a:rPr kumimoji="0" lang="en-US" altLang="en-US" sz="2800" b="1" i="0" u="none" strike="noStrike" cap="none" normalizeH="0" baseline="0" dirty="0">
                <a:ln>
                  <a:noFill/>
                </a:ln>
                <a:solidFill>
                  <a:schemeClr val="tx1"/>
                </a:solidFill>
                <a:effectLst/>
                <a:latin typeface="Arial" panose="020B0604020202020204" pitchFamily="34" charset="0"/>
              </a:rPr>
            </a:br>
            <a:r>
              <a:rPr kumimoji="0" lang="en-US" altLang="en-US" sz="2800" b="1" i="0" u="none" strike="noStrike" cap="none" normalizeH="0" baseline="0" dirty="0">
                <a:ln>
                  <a:noFill/>
                </a:ln>
                <a:solidFill>
                  <a:schemeClr val="tx1"/>
                </a:solidFill>
                <a:effectLst/>
                <a:latin typeface="Arial" panose="020B0604020202020204" pitchFamily="34" charset="0"/>
              </a:rPr>
              <a:t> Combine GAN/VAE and PSO together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Arial" panose="020B0604020202020204" pitchFamily="34" charset="0"/>
              </a:rPr>
              <a:t>To develop a better disease prediction system</a:t>
            </a:r>
            <a:br>
              <a:rPr kumimoji="0" lang="en-US" altLang="en-US" sz="2800" b="1" i="0" u="none" strike="noStrike" cap="none" normalizeH="0" baseline="0" dirty="0">
                <a:ln>
                  <a:noFill/>
                </a:ln>
                <a:solidFill>
                  <a:schemeClr val="tx1"/>
                </a:solidFill>
                <a:effectLst/>
                <a:latin typeface="Arial" panose="020B0604020202020204" pitchFamily="34" charset="0"/>
              </a:rPr>
            </a:br>
            <a:r>
              <a:rPr kumimoji="0" lang="en-US" altLang="en-US" sz="2800" b="1" i="0" u="none" strike="noStrike" cap="none" normalizeH="0" baseline="0" dirty="0">
                <a:ln>
                  <a:noFill/>
                </a:ln>
                <a:solidFill>
                  <a:schemeClr val="tx1"/>
                </a:solidFill>
                <a:effectLst/>
                <a:latin typeface="Arial" panose="020B0604020202020204" pitchFamily="34" charset="0"/>
              </a:rPr>
              <a:t> Fast and accurate classification </a:t>
            </a:r>
          </a:p>
        </p:txBody>
      </p:sp>
    </p:spTree>
    <p:extLst>
      <p:ext uri="{BB962C8B-B14F-4D97-AF65-F5344CB8AC3E}">
        <p14:creationId xmlns:p14="http://schemas.microsoft.com/office/powerpoint/2010/main" val="21471731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a:extLst>
            <a:ext uri="{FF2B5EF4-FFF2-40B4-BE49-F238E27FC236}">
              <a16:creationId xmlns:a16="http://schemas.microsoft.com/office/drawing/2014/main" id="{CF198C98-1872-EE03-F23C-0F3C7A16664F}"/>
            </a:ext>
          </a:extLst>
        </p:cNvPr>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35C3D674-3D59-4E93-80CA-0C0A9095E8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0"/>
            <a:ext cx="18287542" cy="10287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6" name="Straight Connector 25">
            <a:extLst>
              <a:ext uri="{FF2B5EF4-FFF2-40B4-BE49-F238E27FC236}">
                <a16:creationId xmlns:a16="http://schemas.microsoft.com/office/drawing/2014/main" id="{C884B8F8-FDC9-498B-9960-5D7260AFCB0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180844" y="2770632"/>
            <a:ext cx="6266059"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2" name="Title 1">
            <a:extLst>
              <a:ext uri="{FF2B5EF4-FFF2-40B4-BE49-F238E27FC236}">
                <a16:creationId xmlns:a16="http://schemas.microsoft.com/office/drawing/2014/main" id="{18100B90-EE62-D17E-ED6B-791E17196A3C}"/>
              </a:ext>
            </a:extLst>
          </p:cNvPr>
          <p:cNvSpPr>
            <a:spLocks noGrp="1"/>
          </p:cNvSpPr>
          <p:nvPr>
            <p:ph type="title"/>
          </p:nvPr>
        </p:nvSpPr>
        <p:spPr>
          <a:xfrm>
            <a:off x="2177370" y="1206780"/>
            <a:ext cx="6264766" cy="1573852"/>
          </a:xfrm>
        </p:spPr>
        <p:txBody>
          <a:bodyPr>
            <a:normAutofit/>
          </a:bodyPr>
          <a:lstStyle/>
          <a:p>
            <a:r>
              <a:rPr lang="en-IN" b="1" dirty="0">
                <a:latin typeface="ADLaM Display" panose="02010000000000000000" pitchFamily="2" charset="0"/>
                <a:ea typeface="ADLaM Display" panose="02010000000000000000" pitchFamily="2" charset="0"/>
                <a:cs typeface="ADLaM Display" panose="02010000000000000000" pitchFamily="2" charset="0"/>
              </a:rPr>
              <a:t>Proposed methodology</a:t>
            </a:r>
          </a:p>
        </p:txBody>
      </p:sp>
      <p:sp>
        <p:nvSpPr>
          <p:cNvPr id="28" name="Rectangle 27">
            <a:extLst>
              <a:ext uri="{FF2B5EF4-FFF2-40B4-BE49-F238E27FC236}">
                <a16:creationId xmlns:a16="http://schemas.microsoft.com/office/drawing/2014/main" id="{EF2A81E1-BCBE-426B-8C09-33274E6940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029214"/>
            <a:ext cx="18288000" cy="615891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4" name="Rectangle 1">
            <a:extLst>
              <a:ext uri="{FF2B5EF4-FFF2-40B4-BE49-F238E27FC236}">
                <a16:creationId xmlns:a16="http://schemas.microsoft.com/office/drawing/2014/main" id="{CE6A501E-3FDC-203D-8460-732C362D3BC8}"/>
              </a:ext>
            </a:extLst>
          </p:cNvPr>
          <p:cNvSpPr>
            <a:spLocks noGrp="1" noChangeArrowheads="1"/>
          </p:cNvSpPr>
          <p:nvPr>
            <p:ph idx="1"/>
          </p:nvPr>
        </p:nvSpPr>
        <p:spPr bwMode="auto">
          <a:xfrm>
            <a:off x="2177371" y="3023598"/>
            <a:ext cx="6258318" cy="5175919"/>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marL="0" marR="0" lvl="0" indent="0" defTabSz="914400" rtl="0" eaLnBrk="0" fontAlgn="base" latinLnBrk="0" hangingPunct="0">
              <a:lnSpc>
                <a:spcPct val="110000"/>
              </a:lnSpc>
              <a:spcBef>
                <a:spcPct val="0"/>
              </a:spcBef>
              <a:spcAft>
                <a:spcPts val="600"/>
              </a:spcAft>
              <a:buClrTx/>
              <a:buSzTx/>
              <a:buFontTx/>
              <a:buChar char="•"/>
              <a:tabLst/>
            </a:pPr>
            <a:r>
              <a:rPr kumimoji="0" lang="en-US" altLang="en-US" sz="2100" b="1" i="0" u="none" strike="noStrike" cap="none" normalizeH="0" baseline="0">
                <a:ln>
                  <a:noFill/>
                </a:ln>
                <a:effectLst/>
                <a:latin typeface="Arial" panose="020B0604020202020204" pitchFamily="34" charset="0"/>
              </a:rPr>
              <a:t>Step 1: Data Collection</a:t>
            </a:r>
          </a:p>
          <a:p>
            <a:pPr marL="0" marR="0" lvl="0" indent="0" defTabSz="914400" rtl="0" eaLnBrk="0" fontAlgn="base" latinLnBrk="0" hangingPunct="0">
              <a:lnSpc>
                <a:spcPct val="110000"/>
              </a:lnSpc>
              <a:spcBef>
                <a:spcPct val="0"/>
              </a:spcBef>
              <a:spcAft>
                <a:spcPts val="600"/>
              </a:spcAft>
              <a:buClrTx/>
              <a:buSzTx/>
              <a:buNone/>
              <a:tabLst/>
            </a:pPr>
            <a:br>
              <a:rPr kumimoji="0" lang="en-US" altLang="en-US" sz="2100" b="1" i="0" u="none" strike="noStrike" cap="none" normalizeH="0" baseline="0">
                <a:ln>
                  <a:noFill/>
                </a:ln>
                <a:effectLst/>
                <a:latin typeface="Arial" panose="020B0604020202020204" pitchFamily="34" charset="0"/>
              </a:rPr>
            </a:br>
            <a:r>
              <a:rPr kumimoji="0" lang="en-US" altLang="en-US" sz="2100" b="1" i="0" u="none" strike="noStrike" cap="none" normalizeH="0" baseline="0">
                <a:ln>
                  <a:noFill/>
                </a:ln>
                <a:effectLst/>
                <a:latin typeface="Arial" panose="020B0604020202020204" pitchFamily="34" charset="0"/>
              </a:rPr>
              <a:t>Step 2: Data Preprocessing</a:t>
            </a:r>
          </a:p>
          <a:p>
            <a:pPr marL="0" marR="0" lvl="0" indent="0" defTabSz="914400" rtl="0" eaLnBrk="0" fontAlgn="base" latinLnBrk="0" hangingPunct="0">
              <a:lnSpc>
                <a:spcPct val="110000"/>
              </a:lnSpc>
              <a:spcBef>
                <a:spcPct val="0"/>
              </a:spcBef>
              <a:spcAft>
                <a:spcPts val="600"/>
              </a:spcAft>
              <a:buClrTx/>
              <a:buSzTx/>
              <a:buNone/>
              <a:tabLst/>
            </a:pPr>
            <a:br>
              <a:rPr kumimoji="0" lang="en-US" altLang="en-US" sz="2100" b="1" i="0" u="none" strike="noStrike" cap="none" normalizeH="0" baseline="0">
                <a:ln>
                  <a:noFill/>
                </a:ln>
                <a:effectLst/>
                <a:latin typeface="Arial" panose="020B0604020202020204" pitchFamily="34" charset="0"/>
              </a:rPr>
            </a:br>
            <a:r>
              <a:rPr kumimoji="0" lang="en-US" altLang="en-US" sz="2100" b="1" i="0" u="none" strike="noStrike" cap="none" normalizeH="0" baseline="0">
                <a:ln>
                  <a:noFill/>
                </a:ln>
                <a:effectLst/>
                <a:latin typeface="Arial" panose="020B0604020202020204" pitchFamily="34" charset="0"/>
              </a:rPr>
              <a:t>Step 3: Data Augmentation (GAN / VAE)</a:t>
            </a:r>
          </a:p>
          <a:p>
            <a:pPr marL="0" marR="0" lvl="0" indent="0" defTabSz="914400" rtl="0" eaLnBrk="0" fontAlgn="base" latinLnBrk="0" hangingPunct="0">
              <a:lnSpc>
                <a:spcPct val="110000"/>
              </a:lnSpc>
              <a:spcBef>
                <a:spcPct val="0"/>
              </a:spcBef>
              <a:spcAft>
                <a:spcPts val="600"/>
              </a:spcAft>
              <a:buClrTx/>
              <a:buSzTx/>
              <a:buNone/>
              <a:tabLst/>
            </a:pPr>
            <a:endParaRPr kumimoji="0" lang="en-US" altLang="en-US" sz="2100" b="1" i="0" u="none" strike="noStrike" cap="none" normalizeH="0" baseline="0">
              <a:ln>
                <a:noFill/>
              </a:ln>
              <a:effectLst/>
              <a:latin typeface="Arial" panose="020B0604020202020204" pitchFamily="34" charset="0"/>
            </a:endParaRPr>
          </a:p>
          <a:p>
            <a:pPr marL="0" marR="0" lvl="0" indent="0" defTabSz="914400" rtl="0" eaLnBrk="0" fontAlgn="base" latinLnBrk="0" hangingPunct="0">
              <a:lnSpc>
                <a:spcPct val="110000"/>
              </a:lnSpc>
              <a:spcBef>
                <a:spcPct val="0"/>
              </a:spcBef>
              <a:spcAft>
                <a:spcPts val="600"/>
              </a:spcAft>
              <a:buClrTx/>
              <a:buSzTx/>
              <a:buFontTx/>
              <a:buChar char="•"/>
              <a:tabLst/>
            </a:pPr>
            <a:r>
              <a:rPr kumimoji="0" lang="en-US" altLang="en-US" sz="2100" b="1" i="0" u="none" strike="noStrike" cap="none" normalizeH="0" baseline="0">
                <a:ln>
                  <a:noFill/>
                </a:ln>
                <a:effectLst/>
                <a:latin typeface="Arial" panose="020B0604020202020204" pitchFamily="34" charset="0"/>
              </a:rPr>
              <a:t>Step 4: Feature Selection (PSO / SIW-PSO)</a:t>
            </a:r>
          </a:p>
          <a:p>
            <a:pPr marL="0" marR="0" lvl="0" indent="0" defTabSz="914400" rtl="0" eaLnBrk="0" fontAlgn="base" latinLnBrk="0" hangingPunct="0">
              <a:lnSpc>
                <a:spcPct val="110000"/>
              </a:lnSpc>
              <a:spcBef>
                <a:spcPct val="0"/>
              </a:spcBef>
              <a:spcAft>
                <a:spcPts val="600"/>
              </a:spcAft>
              <a:buClrTx/>
              <a:buSzTx/>
              <a:buNone/>
              <a:tabLst/>
            </a:pPr>
            <a:endParaRPr lang="en-US" altLang="en-US" sz="2100" b="1">
              <a:latin typeface="Arial" panose="020B0604020202020204" pitchFamily="34" charset="0"/>
            </a:endParaRPr>
          </a:p>
          <a:p>
            <a:pPr marL="0" marR="0" lvl="0" indent="0" defTabSz="914400" rtl="0" eaLnBrk="0" fontAlgn="base" latinLnBrk="0" hangingPunct="0">
              <a:lnSpc>
                <a:spcPct val="110000"/>
              </a:lnSpc>
              <a:spcBef>
                <a:spcPct val="0"/>
              </a:spcBef>
              <a:spcAft>
                <a:spcPts val="600"/>
              </a:spcAft>
              <a:buClrTx/>
              <a:buSzTx/>
              <a:buFontTx/>
              <a:buChar char="•"/>
              <a:tabLst/>
            </a:pPr>
            <a:r>
              <a:rPr kumimoji="0" lang="en-US" altLang="en-US" sz="2100" b="1" i="0" u="none" strike="noStrike" cap="none" normalizeH="0" baseline="0">
                <a:ln>
                  <a:noFill/>
                </a:ln>
                <a:effectLst/>
                <a:latin typeface="Arial" panose="020B0604020202020204" pitchFamily="34" charset="0"/>
              </a:rPr>
              <a:t>Step 5: Classification</a:t>
            </a:r>
          </a:p>
          <a:p>
            <a:pPr marL="0" marR="0" lvl="0" indent="0" defTabSz="914400" rtl="0" eaLnBrk="0" fontAlgn="base" latinLnBrk="0" hangingPunct="0">
              <a:lnSpc>
                <a:spcPct val="110000"/>
              </a:lnSpc>
              <a:spcBef>
                <a:spcPct val="0"/>
              </a:spcBef>
              <a:spcAft>
                <a:spcPts val="600"/>
              </a:spcAft>
              <a:buClrTx/>
              <a:buSzTx/>
              <a:buNone/>
              <a:tabLst/>
            </a:pPr>
            <a:endParaRPr kumimoji="0" lang="en-US" altLang="en-US" sz="2100" b="1" i="0" u="none" strike="noStrike" cap="none" normalizeH="0" baseline="0">
              <a:ln>
                <a:noFill/>
              </a:ln>
              <a:effectLst/>
              <a:latin typeface="Arial" panose="020B0604020202020204" pitchFamily="34" charset="0"/>
            </a:endParaRPr>
          </a:p>
          <a:p>
            <a:pPr marL="0" marR="0" lvl="0" indent="0" defTabSz="914400" rtl="0" eaLnBrk="0" fontAlgn="base" latinLnBrk="0" hangingPunct="0">
              <a:lnSpc>
                <a:spcPct val="110000"/>
              </a:lnSpc>
              <a:spcBef>
                <a:spcPct val="0"/>
              </a:spcBef>
              <a:spcAft>
                <a:spcPts val="600"/>
              </a:spcAft>
              <a:buClrTx/>
              <a:buSzTx/>
              <a:buFontTx/>
              <a:buChar char="•"/>
              <a:tabLst/>
            </a:pPr>
            <a:r>
              <a:rPr kumimoji="0" lang="en-US" altLang="en-US" sz="2100" b="1" i="0" u="none" strike="noStrike" cap="none" normalizeH="0" baseline="0">
                <a:ln>
                  <a:noFill/>
                </a:ln>
                <a:effectLst/>
                <a:latin typeface="Arial" panose="020B0604020202020204" pitchFamily="34" charset="0"/>
              </a:rPr>
              <a:t>Step 6: Evaluation</a:t>
            </a:r>
            <a:br>
              <a:rPr kumimoji="0" lang="en-US" altLang="en-US" sz="2100" b="1" i="0" u="none" strike="noStrike" cap="none" normalizeH="0" baseline="0">
                <a:ln>
                  <a:noFill/>
                </a:ln>
                <a:effectLst/>
                <a:latin typeface="Arial" panose="020B0604020202020204" pitchFamily="34" charset="0"/>
              </a:rPr>
            </a:br>
            <a:r>
              <a:rPr kumimoji="0" lang="en-US" altLang="en-US" sz="2100" b="1" i="0" u="none" strike="noStrike" cap="none" normalizeH="0" baseline="0">
                <a:ln>
                  <a:noFill/>
                </a:ln>
                <a:effectLst/>
                <a:latin typeface="Arial" panose="020B0604020202020204" pitchFamily="34" charset="0"/>
              </a:rPr>
              <a:t> </a:t>
            </a:r>
          </a:p>
        </p:txBody>
      </p:sp>
      <p:pic>
        <p:nvPicPr>
          <p:cNvPr id="8" name="Graphic 7" descr="Test Plan">
            <a:extLst>
              <a:ext uri="{FF2B5EF4-FFF2-40B4-BE49-F238E27FC236}">
                <a16:creationId xmlns:a16="http://schemas.microsoft.com/office/drawing/2014/main" id="{15A222C2-93DE-5ECF-2EE9-8834C0DFCB9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9366376" y="1208374"/>
            <a:ext cx="6991143" cy="6991143"/>
          </a:xfrm>
          <a:prstGeom prst="rect">
            <a:avLst/>
          </a:prstGeom>
        </p:spPr>
      </p:pic>
      <p:pic>
        <p:nvPicPr>
          <p:cNvPr id="30" name="Picture 29">
            <a:extLst>
              <a:ext uri="{FF2B5EF4-FFF2-40B4-BE49-F238E27FC236}">
                <a16:creationId xmlns:a16="http://schemas.microsoft.com/office/drawing/2014/main" id="{39D1DDD4-5BB3-45BA-B9B3-06B62299AD7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t="1538" b="-1538"/>
          <a:stretch/>
        </p:blipFill>
        <p:spPr bwMode="black">
          <a:xfrm>
            <a:off x="0" y="9189720"/>
            <a:ext cx="18288000" cy="1114425"/>
          </a:xfrm>
          <a:prstGeom prst="rect">
            <a:avLst/>
          </a:prstGeom>
        </p:spPr>
      </p:pic>
      <p:cxnSp>
        <p:nvCxnSpPr>
          <p:cNvPr id="32" name="Straight Connector 31">
            <a:extLst>
              <a:ext uri="{FF2B5EF4-FFF2-40B4-BE49-F238E27FC236}">
                <a16:creationId xmlns:a16="http://schemas.microsoft.com/office/drawing/2014/main" id="{A24DAE64-2302-42EA-8239-F2F0775CA5A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9192619"/>
            <a:ext cx="18288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624112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a:extLst>
            <a:ext uri="{FF2B5EF4-FFF2-40B4-BE49-F238E27FC236}">
              <a16:creationId xmlns:a16="http://schemas.microsoft.com/office/drawing/2014/main" id="{FF6BCD9E-E5D5-0D2D-80D6-8105741251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25278C-3449-9975-E879-B20974729905}"/>
              </a:ext>
            </a:extLst>
          </p:cNvPr>
          <p:cNvSpPr>
            <a:spLocks noGrp="1"/>
          </p:cNvSpPr>
          <p:nvPr>
            <p:ph type="title"/>
          </p:nvPr>
        </p:nvSpPr>
        <p:spPr>
          <a:xfrm>
            <a:off x="2177368" y="1206778"/>
            <a:ext cx="14404913" cy="1573853"/>
          </a:xfrm>
        </p:spPr>
        <p:txBody>
          <a:bodyPr>
            <a:normAutofit/>
          </a:bodyPr>
          <a:lstStyle/>
          <a:p>
            <a:r>
              <a:rPr lang="en-IN" b="1" dirty="0">
                <a:latin typeface="ADLaM Display" panose="02010000000000000000" pitchFamily="2" charset="0"/>
                <a:ea typeface="ADLaM Display" panose="02010000000000000000" pitchFamily="2" charset="0"/>
                <a:cs typeface="ADLaM Display" panose="02010000000000000000" pitchFamily="2" charset="0"/>
              </a:rPr>
              <a:t>Approaches explanation</a:t>
            </a:r>
          </a:p>
        </p:txBody>
      </p:sp>
      <p:pic>
        <p:nvPicPr>
          <p:cNvPr id="7" name="Graphic 6" descr="Robot">
            <a:extLst>
              <a:ext uri="{FF2B5EF4-FFF2-40B4-BE49-F238E27FC236}">
                <a16:creationId xmlns:a16="http://schemas.microsoft.com/office/drawing/2014/main" id="{8ABE30D7-986E-5DE0-FA8D-FD73F2C5736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2175693" y="3416987"/>
            <a:ext cx="4389147" cy="4389147"/>
          </a:xfrm>
          <a:prstGeom prst="rect">
            <a:avLst/>
          </a:prstGeom>
        </p:spPr>
      </p:pic>
      <p:sp>
        <p:nvSpPr>
          <p:cNvPr id="3" name="Content Placeholder 2">
            <a:extLst>
              <a:ext uri="{FF2B5EF4-FFF2-40B4-BE49-F238E27FC236}">
                <a16:creationId xmlns:a16="http://schemas.microsoft.com/office/drawing/2014/main" id="{4EED350F-A7B8-7FC7-8F7F-FD6F48827C8E}"/>
              </a:ext>
            </a:extLst>
          </p:cNvPr>
          <p:cNvSpPr>
            <a:spLocks noGrp="1"/>
          </p:cNvSpPr>
          <p:nvPr>
            <p:ph idx="1"/>
          </p:nvPr>
        </p:nvSpPr>
        <p:spPr>
          <a:xfrm>
            <a:off x="7288605" y="3023601"/>
            <a:ext cx="9293676" cy="5929899"/>
          </a:xfrm>
        </p:spPr>
        <p:txBody>
          <a:bodyPr>
            <a:normAutofit fontScale="55000" lnSpcReduction="20000"/>
          </a:bodyPr>
          <a:lstStyle/>
          <a:p>
            <a:pPr>
              <a:lnSpc>
                <a:spcPct val="110000"/>
              </a:lnSpc>
            </a:pPr>
            <a:r>
              <a:rPr lang="en-IN" sz="4400" dirty="0"/>
              <a:t> </a:t>
            </a:r>
            <a:r>
              <a:rPr lang="en-IN" sz="4400" b="1" dirty="0"/>
              <a:t>PSO (Particle Swarm Optimization)</a:t>
            </a:r>
          </a:p>
          <a:p>
            <a:pPr>
              <a:lnSpc>
                <a:spcPct val="110000"/>
              </a:lnSpc>
            </a:pPr>
            <a:r>
              <a:rPr lang="en-IN" sz="4400" dirty="0"/>
              <a:t>Used for selecting important genes from high-dimensional data </a:t>
            </a:r>
          </a:p>
          <a:p>
            <a:pPr>
              <a:lnSpc>
                <a:spcPct val="110000"/>
              </a:lnSpc>
            </a:pPr>
            <a:r>
              <a:rPr lang="en-IN" sz="4400" dirty="0"/>
              <a:t>Improves accuracy by removing irrelevant features </a:t>
            </a:r>
          </a:p>
          <a:p>
            <a:pPr>
              <a:lnSpc>
                <a:spcPct val="110000"/>
              </a:lnSpc>
            </a:pPr>
            <a:r>
              <a:rPr lang="en-IN" sz="4400" dirty="0"/>
              <a:t>Works using best solution search (personal &amp; global best) </a:t>
            </a:r>
          </a:p>
          <a:p>
            <a:pPr>
              <a:lnSpc>
                <a:spcPct val="110000"/>
              </a:lnSpc>
            </a:pPr>
            <a:r>
              <a:rPr lang="en-US" sz="4500" b="1" dirty="0"/>
              <a:t>Limitation: Does not handle small dataset problem</a:t>
            </a:r>
            <a:br>
              <a:rPr lang="en-IN" sz="4400" dirty="0"/>
            </a:br>
            <a:endParaRPr lang="en-IN" sz="4400" dirty="0"/>
          </a:p>
          <a:p>
            <a:pPr>
              <a:lnSpc>
                <a:spcPct val="110000"/>
              </a:lnSpc>
            </a:pPr>
            <a:r>
              <a:rPr lang="en-IN" sz="4400" b="1" dirty="0"/>
              <a:t> GAN (Generative Adversarial Network)</a:t>
            </a:r>
          </a:p>
          <a:p>
            <a:pPr>
              <a:lnSpc>
                <a:spcPct val="110000"/>
              </a:lnSpc>
            </a:pPr>
            <a:r>
              <a:rPr lang="en-IN" sz="4400" dirty="0"/>
              <a:t>Used for generating synthetic data to increase dataset size </a:t>
            </a:r>
          </a:p>
          <a:p>
            <a:pPr>
              <a:lnSpc>
                <a:spcPct val="110000"/>
              </a:lnSpc>
            </a:pPr>
            <a:r>
              <a:rPr lang="en-IN" sz="4400" dirty="0"/>
              <a:t>Consists of Generator and Discriminator working together </a:t>
            </a:r>
          </a:p>
          <a:p>
            <a:pPr>
              <a:lnSpc>
                <a:spcPct val="110000"/>
              </a:lnSpc>
            </a:pPr>
            <a:r>
              <a:rPr lang="en-IN" sz="4400" dirty="0"/>
              <a:t>Helps reduce overfitting and improves model performance</a:t>
            </a:r>
          </a:p>
          <a:p>
            <a:pPr>
              <a:lnSpc>
                <a:spcPct val="110000"/>
              </a:lnSpc>
            </a:pPr>
            <a:r>
              <a:rPr lang="en-US" sz="4500" b="1" dirty="0"/>
              <a:t>Limitation: Does not handle small dataset problem</a:t>
            </a:r>
            <a:r>
              <a:rPr lang="en-IN" sz="5100" b="1" dirty="0"/>
              <a:t> </a:t>
            </a:r>
            <a:br>
              <a:rPr lang="en-IN" sz="1600" dirty="0"/>
            </a:br>
            <a:endParaRPr lang="en-IN" sz="1600" dirty="0"/>
          </a:p>
          <a:p>
            <a:pPr marL="0" indent="0">
              <a:lnSpc>
                <a:spcPct val="110000"/>
              </a:lnSpc>
              <a:buNone/>
            </a:pPr>
            <a:endParaRPr lang="en-IN" sz="1400" b="1" dirty="0"/>
          </a:p>
        </p:txBody>
      </p:sp>
    </p:spTree>
    <p:extLst>
      <p:ext uri="{BB962C8B-B14F-4D97-AF65-F5344CB8AC3E}">
        <p14:creationId xmlns:p14="http://schemas.microsoft.com/office/powerpoint/2010/main" val="32822929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a:extLst>
            <a:ext uri="{FF2B5EF4-FFF2-40B4-BE49-F238E27FC236}">
              <a16:creationId xmlns:a16="http://schemas.microsoft.com/office/drawing/2014/main" id="{563E0366-967E-E8A3-6CCA-C7DF19F508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5E5A8C-F082-3F8E-57B1-9E574944A833}"/>
              </a:ext>
            </a:extLst>
          </p:cNvPr>
          <p:cNvSpPr>
            <a:spLocks noGrp="1"/>
          </p:cNvSpPr>
          <p:nvPr>
            <p:ph type="title"/>
          </p:nvPr>
        </p:nvSpPr>
        <p:spPr>
          <a:xfrm>
            <a:off x="2177368" y="1206778"/>
            <a:ext cx="14404913" cy="1573853"/>
          </a:xfrm>
        </p:spPr>
        <p:txBody>
          <a:bodyPr>
            <a:normAutofit/>
          </a:bodyPr>
          <a:lstStyle/>
          <a:p>
            <a:r>
              <a:rPr lang="en-IN" b="1" dirty="0">
                <a:latin typeface="ADLaM Display" panose="02010000000000000000" pitchFamily="2" charset="0"/>
                <a:ea typeface="ADLaM Display" panose="02010000000000000000" pitchFamily="2" charset="0"/>
                <a:cs typeface="ADLaM Display" panose="02010000000000000000" pitchFamily="2" charset="0"/>
              </a:rPr>
              <a:t>Approaches explanation</a:t>
            </a:r>
          </a:p>
        </p:txBody>
      </p:sp>
      <p:pic>
        <p:nvPicPr>
          <p:cNvPr id="7" name="Graphic 6" descr="Robot">
            <a:extLst>
              <a:ext uri="{FF2B5EF4-FFF2-40B4-BE49-F238E27FC236}">
                <a16:creationId xmlns:a16="http://schemas.microsoft.com/office/drawing/2014/main" id="{4460500E-4CA8-9186-781F-522C650B79B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2175693" y="3416987"/>
            <a:ext cx="4389147" cy="4389147"/>
          </a:xfrm>
          <a:prstGeom prst="rect">
            <a:avLst/>
          </a:prstGeom>
        </p:spPr>
      </p:pic>
      <p:sp>
        <p:nvSpPr>
          <p:cNvPr id="3" name="Content Placeholder 2">
            <a:extLst>
              <a:ext uri="{FF2B5EF4-FFF2-40B4-BE49-F238E27FC236}">
                <a16:creationId xmlns:a16="http://schemas.microsoft.com/office/drawing/2014/main" id="{8C20F7CD-F85A-63AB-6700-61775F6F3FAC}"/>
              </a:ext>
            </a:extLst>
          </p:cNvPr>
          <p:cNvSpPr>
            <a:spLocks noGrp="1"/>
          </p:cNvSpPr>
          <p:nvPr>
            <p:ph idx="1"/>
          </p:nvPr>
        </p:nvSpPr>
        <p:spPr>
          <a:xfrm>
            <a:off x="7288605" y="3023601"/>
            <a:ext cx="9293676" cy="5929899"/>
          </a:xfrm>
        </p:spPr>
        <p:txBody>
          <a:bodyPr>
            <a:normAutofit fontScale="47500" lnSpcReduction="20000"/>
          </a:bodyPr>
          <a:lstStyle/>
          <a:p>
            <a:pPr marL="0" indent="0">
              <a:buNone/>
            </a:pPr>
            <a:r>
              <a:rPr lang="en-IN" sz="5100" b="1" dirty="0"/>
              <a:t>VAE (Variational Autoencoder)</a:t>
            </a:r>
          </a:p>
          <a:p>
            <a:r>
              <a:rPr lang="en-IN" sz="4400" dirty="0"/>
              <a:t>Uses encoder–decoder structure to learn data patterns </a:t>
            </a:r>
          </a:p>
          <a:p>
            <a:r>
              <a:rPr lang="en-IN" sz="4400" dirty="0"/>
              <a:t>Generates new samples using latent space </a:t>
            </a:r>
          </a:p>
          <a:p>
            <a:r>
              <a:rPr lang="en-IN" sz="4400" dirty="0"/>
              <a:t>Helps in data augmentation and noise reduction </a:t>
            </a:r>
          </a:p>
          <a:p>
            <a:r>
              <a:rPr lang="en-IN" sz="5100" b="1" dirty="0"/>
              <a:t>Limitations: can’t find important features</a:t>
            </a:r>
            <a:br>
              <a:rPr lang="en-IN" sz="4400" dirty="0"/>
            </a:br>
            <a:endParaRPr lang="en-IN" sz="4400" dirty="0"/>
          </a:p>
          <a:p>
            <a:pPr marL="0" indent="0">
              <a:buNone/>
            </a:pPr>
            <a:r>
              <a:rPr lang="en-IN" sz="4400" b="1" dirty="0"/>
              <a:t> SVM (Support Vector Machine)</a:t>
            </a:r>
          </a:p>
          <a:p>
            <a:r>
              <a:rPr lang="en-IN" sz="4400" dirty="0"/>
              <a:t>Used for classification of disease (e.g., cancer types) </a:t>
            </a:r>
          </a:p>
          <a:p>
            <a:r>
              <a:rPr lang="en-IN" sz="4400" dirty="0"/>
              <a:t>Separates data using an optimal decision boundary (hyperplane) </a:t>
            </a:r>
          </a:p>
          <a:p>
            <a:r>
              <a:rPr lang="en-IN" sz="4400" dirty="0"/>
              <a:t>Works well with high-dimensional gene data</a:t>
            </a:r>
            <a:endParaRPr lang="en-IN" sz="1400" dirty="0"/>
          </a:p>
          <a:p>
            <a:r>
              <a:rPr lang="en-IN" sz="5300" b="1" dirty="0"/>
              <a:t>Limitation: Cannot identify important features</a:t>
            </a:r>
          </a:p>
        </p:txBody>
      </p:sp>
    </p:spTree>
    <p:extLst>
      <p:ext uri="{BB962C8B-B14F-4D97-AF65-F5344CB8AC3E}">
        <p14:creationId xmlns:p14="http://schemas.microsoft.com/office/powerpoint/2010/main" val="37033639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a:extLst>
            <a:ext uri="{FF2B5EF4-FFF2-40B4-BE49-F238E27FC236}">
              <a16:creationId xmlns:a16="http://schemas.microsoft.com/office/drawing/2014/main" id="{594B7543-EAF3-1782-A0B7-93AF294BDF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30D508-0F4B-A220-F89B-A866D67646C9}"/>
              </a:ext>
            </a:extLst>
          </p:cNvPr>
          <p:cNvSpPr>
            <a:spLocks noGrp="1"/>
          </p:cNvSpPr>
          <p:nvPr>
            <p:ph type="title"/>
          </p:nvPr>
        </p:nvSpPr>
        <p:spPr>
          <a:xfrm>
            <a:off x="2177368" y="1206778"/>
            <a:ext cx="14404913" cy="1573853"/>
          </a:xfrm>
        </p:spPr>
        <p:txBody>
          <a:bodyPr>
            <a:normAutofit/>
          </a:bodyPr>
          <a:lstStyle/>
          <a:p>
            <a:r>
              <a:rPr lang="en-IN" b="1" dirty="0">
                <a:latin typeface="ADLaM Display" panose="02010000000000000000" pitchFamily="2" charset="0"/>
                <a:ea typeface="ADLaM Display" panose="02010000000000000000" pitchFamily="2" charset="0"/>
                <a:cs typeface="ADLaM Display" panose="02010000000000000000" pitchFamily="2" charset="0"/>
              </a:rPr>
              <a:t>references</a:t>
            </a:r>
          </a:p>
        </p:txBody>
      </p:sp>
      <p:sp>
        <p:nvSpPr>
          <p:cNvPr id="7" name="Rectangle 4">
            <a:extLst>
              <a:ext uri="{FF2B5EF4-FFF2-40B4-BE49-F238E27FC236}">
                <a16:creationId xmlns:a16="http://schemas.microsoft.com/office/drawing/2014/main" id="{896C252F-8D61-E2D0-DD21-6EEA4B152504}"/>
              </a:ext>
            </a:extLst>
          </p:cNvPr>
          <p:cNvSpPr>
            <a:spLocks noGrp="1" noChangeArrowheads="1"/>
          </p:cNvSpPr>
          <p:nvPr>
            <p:ph idx="1"/>
          </p:nvPr>
        </p:nvSpPr>
        <p:spPr bwMode="auto">
          <a:xfrm>
            <a:off x="2177368" y="3023601"/>
            <a:ext cx="9293676" cy="5175919"/>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lnSpcReduction="10000"/>
          </a:bodyPr>
          <a:lstStyle/>
          <a:p>
            <a:pPr marL="0" marR="0" lvl="0" indent="0" defTabSz="914400" rtl="0" eaLnBrk="0" fontAlgn="base" latinLnBrk="0" hangingPunct="0">
              <a:spcBef>
                <a:spcPct val="0"/>
              </a:spcBef>
              <a:spcAft>
                <a:spcPts val="600"/>
              </a:spcAft>
              <a:buClrTx/>
              <a:buSzTx/>
              <a:buFontTx/>
              <a:buNone/>
              <a:tabLst/>
            </a:pPr>
            <a:endParaRPr kumimoji="0" lang="en-US" altLang="en-US" b="0" i="0" u="none" strike="noStrike" cap="none" normalizeH="0" baseline="0" dirty="0">
              <a:ln>
                <a:noFill/>
              </a:ln>
              <a:effectLst/>
              <a:latin typeface="Arial" panose="020B0604020202020204" pitchFamily="34" charset="0"/>
            </a:endParaRPr>
          </a:p>
          <a:p>
            <a:pPr marL="0" marR="0" lvl="0" indent="0" defTabSz="914400" rtl="0" eaLnBrk="0" fontAlgn="base" latinLnBrk="0" hangingPunct="0">
              <a:spcBef>
                <a:spcPct val="0"/>
              </a:spcBef>
              <a:spcAft>
                <a:spcPts val="600"/>
              </a:spcAft>
              <a:buClrTx/>
              <a:buSzTx/>
              <a:buFontTx/>
              <a:buChar char="•"/>
              <a:tabLst/>
            </a:pPr>
            <a:r>
              <a:rPr kumimoji="0" lang="en-US" altLang="en-US" b="1" i="0" u="none" strike="noStrike" cap="none" normalizeH="0" baseline="0" dirty="0">
                <a:ln>
                  <a:noFill/>
                </a:ln>
                <a:effectLst/>
                <a:latin typeface="Arial" panose="020B0604020202020204" pitchFamily="34" charset="0"/>
              </a:rPr>
              <a:t>GAN (Goodfellow, 2014) – </a:t>
            </a:r>
            <a:r>
              <a:rPr kumimoji="0" lang="en-US" altLang="en-US" b="1" i="0" u="none" strike="noStrike" cap="none" normalizeH="0" baseline="0" dirty="0">
                <a:ln>
                  <a:noFill/>
                </a:ln>
                <a:effectLst/>
                <a:latin typeface="Arial" panose="020B0604020202020204" pitchFamily="34" charset="0"/>
                <a:hlinkClick r:id="rId2"/>
              </a:rPr>
              <a:t>https://arxiv.org/abs/1406.2661</a:t>
            </a:r>
            <a:r>
              <a:rPr kumimoji="0" lang="en-US" altLang="en-US" b="1" i="0" u="none" strike="noStrike" cap="none" normalizeH="0" baseline="0" dirty="0">
                <a:ln>
                  <a:noFill/>
                </a:ln>
                <a:effectLst/>
                <a:latin typeface="Arial" panose="020B0604020202020204" pitchFamily="34" charset="0"/>
              </a:rPr>
              <a:t> </a:t>
            </a:r>
          </a:p>
          <a:p>
            <a:pPr marL="0" marR="0" lvl="0" indent="0" defTabSz="914400" rtl="0" eaLnBrk="0" fontAlgn="base" latinLnBrk="0" hangingPunct="0">
              <a:spcBef>
                <a:spcPct val="0"/>
              </a:spcBef>
              <a:spcAft>
                <a:spcPts val="600"/>
              </a:spcAft>
              <a:buClrTx/>
              <a:buSzTx/>
              <a:buFontTx/>
              <a:buChar char="•"/>
              <a:tabLst/>
            </a:pPr>
            <a:r>
              <a:rPr kumimoji="0" lang="en-US" altLang="en-US" b="1" i="0" u="none" strike="noStrike" cap="none" normalizeH="0" baseline="0" dirty="0">
                <a:ln>
                  <a:noFill/>
                </a:ln>
                <a:effectLst/>
                <a:latin typeface="Arial" panose="020B0604020202020204" pitchFamily="34" charset="0"/>
              </a:rPr>
              <a:t>VAE (Kingma &amp; Welling, 2013) – </a:t>
            </a:r>
            <a:r>
              <a:rPr kumimoji="0" lang="en-US" altLang="en-US" b="1" i="0" u="none" strike="noStrike" cap="none" normalizeH="0" baseline="0" dirty="0">
                <a:ln>
                  <a:noFill/>
                </a:ln>
                <a:effectLst/>
                <a:latin typeface="Arial" panose="020B0604020202020204" pitchFamily="34" charset="0"/>
                <a:hlinkClick r:id="rId3"/>
              </a:rPr>
              <a:t>https://arxiv.org/abs/1312.6114</a:t>
            </a:r>
            <a:r>
              <a:rPr kumimoji="0" lang="en-US" altLang="en-US" b="1" i="0" u="none" strike="noStrike" cap="none" normalizeH="0" baseline="0" dirty="0">
                <a:ln>
                  <a:noFill/>
                </a:ln>
                <a:effectLst/>
                <a:latin typeface="Arial" panose="020B0604020202020204" pitchFamily="34" charset="0"/>
              </a:rPr>
              <a:t> </a:t>
            </a:r>
          </a:p>
          <a:p>
            <a:pPr marL="0" marR="0" lvl="0" indent="0" defTabSz="914400" rtl="0" eaLnBrk="0" fontAlgn="base" latinLnBrk="0" hangingPunct="0">
              <a:spcBef>
                <a:spcPct val="0"/>
              </a:spcBef>
              <a:spcAft>
                <a:spcPts val="600"/>
              </a:spcAft>
              <a:buClrTx/>
              <a:buSzTx/>
              <a:buFontTx/>
              <a:buChar char="•"/>
              <a:tabLst/>
            </a:pPr>
            <a:r>
              <a:rPr kumimoji="0" lang="en-US" altLang="en-US" b="1" i="0" u="none" strike="noStrike" cap="none" normalizeH="0" baseline="0" dirty="0">
                <a:ln>
                  <a:noFill/>
                </a:ln>
                <a:effectLst/>
                <a:latin typeface="Arial" panose="020B0604020202020204" pitchFamily="34" charset="0"/>
              </a:rPr>
              <a:t>PSO (Nature, 2024) – </a:t>
            </a:r>
            <a:r>
              <a:rPr kumimoji="0" lang="en-US" altLang="en-US" b="1" i="0" u="none" strike="noStrike" cap="none" normalizeH="0" baseline="0" dirty="0">
                <a:ln>
                  <a:noFill/>
                </a:ln>
                <a:effectLst/>
                <a:latin typeface="Arial" panose="020B0604020202020204" pitchFamily="34" charset="0"/>
                <a:hlinkClick r:id="rId4"/>
              </a:rPr>
              <a:t>https://www.nature.com/articles/s41598-024-68744-6</a:t>
            </a:r>
            <a:endParaRPr kumimoji="0" lang="en-US" altLang="en-US" b="1" i="0" u="none" strike="noStrike" cap="none" normalizeH="0" baseline="0" dirty="0">
              <a:ln>
                <a:noFill/>
              </a:ln>
              <a:effectLst/>
              <a:latin typeface="Arial" panose="020B0604020202020204" pitchFamily="34" charset="0"/>
            </a:endParaRPr>
          </a:p>
          <a:p>
            <a:pPr marL="0" marR="0" lvl="0" indent="0" defTabSz="914400" rtl="0" eaLnBrk="0" fontAlgn="base" latinLnBrk="0" hangingPunct="0">
              <a:spcBef>
                <a:spcPct val="0"/>
              </a:spcBef>
              <a:spcAft>
                <a:spcPts val="600"/>
              </a:spcAft>
              <a:buClrTx/>
              <a:buSzTx/>
              <a:buFontTx/>
              <a:buChar char="•"/>
              <a:tabLst/>
            </a:pPr>
            <a:r>
              <a:rPr lang="en-US" altLang="en-US" b="1" dirty="0">
                <a:latin typeface="Arial" panose="020B0604020202020204" pitchFamily="34" charset="0"/>
              </a:rPr>
              <a:t>Chat GPT AI</a:t>
            </a:r>
            <a:r>
              <a:rPr kumimoji="0" lang="en-US" altLang="en-US" b="1" i="0" u="none" strike="noStrike" cap="none" normalizeH="0" baseline="0" dirty="0">
                <a:ln>
                  <a:noFill/>
                </a:ln>
                <a:effectLst/>
                <a:latin typeface="Arial" panose="020B0604020202020204" pitchFamily="34" charset="0"/>
              </a:rPr>
              <a:t> </a:t>
            </a:r>
          </a:p>
        </p:txBody>
      </p:sp>
      <p:pic>
        <p:nvPicPr>
          <p:cNvPr id="11" name="Graphic 10" descr="Hierarchy">
            <a:extLst>
              <a:ext uri="{FF2B5EF4-FFF2-40B4-BE49-F238E27FC236}">
                <a16:creationId xmlns:a16="http://schemas.microsoft.com/office/drawing/2014/main" id="{C43EF091-69B8-B095-7C74-7A29A30A6A0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193134" y="3416987"/>
            <a:ext cx="4389147" cy="4389147"/>
          </a:xfrm>
          <a:prstGeom prst="rect">
            <a:avLst/>
          </a:prstGeom>
        </p:spPr>
      </p:pic>
    </p:spTree>
    <p:extLst>
      <p:ext uri="{BB962C8B-B14F-4D97-AF65-F5344CB8AC3E}">
        <p14:creationId xmlns:p14="http://schemas.microsoft.com/office/powerpoint/2010/main" val="36486914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0CABCAE3-64FC-4149-819F-2C18128241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029214"/>
            <a:ext cx="18288000" cy="615891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dirty="0"/>
          </a:p>
        </p:txBody>
      </p:sp>
      <p:pic>
        <p:nvPicPr>
          <p:cNvPr id="12" name="Picture 11">
            <a:extLst>
              <a:ext uri="{FF2B5EF4-FFF2-40B4-BE49-F238E27FC236}">
                <a16:creationId xmlns:a16="http://schemas.microsoft.com/office/drawing/2014/main" id="{012FDCFE-9AD2-4D8A-8CBF-B3AA37EBF6D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t="1538" b="-1538"/>
          <a:stretch/>
        </p:blipFill>
        <p:spPr bwMode="black">
          <a:xfrm>
            <a:off x="0" y="9189720"/>
            <a:ext cx="18288000" cy="1114425"/>
          </a:xfrm>
          <a:prstGeom prst="rect">
            <a:avLst/>
          </a:prstGeom>
        </p:spPr>
      </p:pic>
      <p:cxnSp>
        <p:nvCxnSpPr>
          <p:cNvPr id="14" name="Straight Connector 13">
            <a:extLst>
              <a:ext uri="{FF2B5EF4-FFF2-40B4-BE49-F238E27FC236}">
                <a16:creationId xmlns:a16="http://schemas.microsoft.com/office/drawing/2014/main" id="{FBD463FC-4CA8-4FF4-85A3-AF9F4B98D21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9192619"/>
            <a:ext cx="18288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BECF35C3-8B44-4F4B-BD25-4C01823DB22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626670" y="5292813"/>
            <a:ext cx="12955608" cy="0"/>
          </a:xfrm>
          <a:prstGeom prst="line">
            <a:avLst/>
          </a:prstGeom>
          <a:ln w="31750"/>
        </p:spPr>
        <p:style>
          <a:lnRef idx="3">
            <a:schemeClr val="accent1"/>
          </a:lnRef>
          <a:fillRef idx="0">
            <a:schemeClr val="accent1"/>
          </a:fillRef>
          <a:effectRef idx="2">
            <a:schemeClr val="accent1"/>
          </a:effectRef>
          <a:fontRef idx="minor">
            <a:schemeClr val="tx1"/>
          </a:fontRef>
        </p:style>
      </p:cxnSp>
      <p:sp useBgFill="1">
        <p:nvSpPr>
          <p:cNvPr id="18" name="Rectangle 17">
            <a:extLst>
              <a:ext uri="{FF2B5EF4-FFF2-40B4-BE49-F238E27FC236}">
                <a16:creationId xmlns:a16="http://schemas.microsoft.com/office/drawing/2014/main" id="{D0712110-0BC1-4B31-B3BB-63B44222E8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0"/>
            <a:ext cx="18287542" cy="10287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Rectangle 19">
            <a:extLst>
              <a:ext uri="{FF2B5EF4-FFF2-40B4-BE49-F238E27FC236}">
                <a16:creationId xmlns:a16="http://schemas.microsoft.com/office/drawing/2014/main" id="{4466B5F3-C053-4580-B04A-1EF9498882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029214"/>
            <a:ext cx="18288000" cy="615891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dirty="0"/>
          </a:p>
        </p:txBody>
      </p:sp>
      <p:sp>
        <p:nvSpPr>
          <p:cNvPr id="3" name="TextBox 2">
            <a:extLst>
              <a:ext uri="{FF2B5EF4-FFF2-40B4-BE49-F238E27FC236}">
                <a16:creationId xmlns:a16="http://schemas.microsoft.com/office/drawing/2014/main" id="{B9A450C8-84A5-074C-14D9-2065D26ADB0C}"/>
              </a:ext>
            </a:extLst>
          </p:cNvPr>
          <p:cNvSpPr txBox="1"/>
          <p:nvPr/>
        </p:nvSpPr>
        <p:spPr>
          <a:xfrm>
            <a:off x="2178924" y="1444353"/>
            <a:ext cx="6264576" cy="3571242"/>
          </a:xfrm>
          <a:prstGeom prst="rect">
            <a:avLst/>
          </a:prstGeom>
        </p:spPr>
        <p:txBody>
          <a:bodyPr vert="horz" lIns="91440" tIns="45720" rIns="91440" bIns="0" rtlCol="0" anchor="b">
            <a:normAutofit/>
          </a:bodyPr>
          <a:lstStyle/>
          <a:p>
            <a:pPr defTabSz="914400">
              <a:lnSpc>
                <a:spcPct val="90000"/>
              </a:lnSpc>
              <a:spcBef>
                <a:spcPct val="0"/>
              </a:spcBef>
              <a:spcAft>
                <a:spcPts val="600"/>
              </a:spcAft>
            </a:pPr>
            <a:r>
              <a:rPr lang="en-US" sz="7200" b="1" cap="all" dirty="0">
                <a:latin typeface="+mj-lt"/>
                <a:ea typeface="+mj-ea"/>
                <a:cs typeface="+mj-cs"/>
                <a:sym typeface="Sego"/>
              </a:rPr>
              <a:t>Thank You</a:t>
            </a:r>
          </a:p>
        </p:txBody>
      </p:sp>
      <p:cxnSp>
        <p:nvCxnSpPr>
          <p:cNvPr id="22" name="Straight Connector 21">
            <a:extLst>
              <a:ext uri="{FF2B5EF4-FFF2-40B4-BE49-F238E27FC236}">
                <a16:creationId xmlns:a16="http://schemas.microsoft.com/office/drawing/2014/main" id="{FA6123F2-4B61-414F-A7E5-5B7828EACAE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178925" y="5292814"/>
            <a:ext cx="6257219" cy="0"/>
          </a:xfrm>
          <a:prstGeom prst="line">
            <a:avLst/>
          </a:prstGeom>
          <a:ln w="31750"/>
        </p:spPr>
        <p:style>
          <a:lnRef idx="3">
            <a:schemeClr val="accent1"/>
          </a:lnRef>
          <a:fillRef idx="0">
            <a:schemeClr val="accent1"/>
          </a:fillRef>
          <a:effectRef idx="2">
            <a:schemeClr val="accent1"/>
          </a:effectRef>
          <a:fontRef idx="minor">
            <a:schemeClr val="tx1"/>
          </a:fontRef>
        </p:style>
      </p:cxnSp>
      <p:pic>
        <p:nvPicPr>
          <p:cNvPr id="7" name="Graphic 6" descr="Smiling Face with No Fill">
            <a:extLst>
              <a:ext uri="{FF2B5EF4-FFF2-40B4-BE49-F238E27FC236}">
                <a16:creationId xmlns:a16="http://schemas.microsoft.com/office/drawing/2014/main" id="{CF03492D-2FF6-EC9B-2DFE-350ED7A2AF3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366376" y="1208374"/>
            <a:ext cx="6991143" cy="6991143"/>
          </a:xfrm>
          <a:prstGeom prst="rect">
            <a:avLst/>
          </a:prstGeom>
        </p:spPr>
      </p:pic>
      <p:pic>
        <p:nvPicPr>
          <p:cNvPr id="24" name="Picture 23">
            <a:extLst>
              <a:ext uri="{FF2B5EF4-FFF2-40B4-BE49-F238E27FC236}">
                <a16:creationId xmlns:a16="http://schemas.microsoft.com/office/drawing/2014/main" id="{25CED634-E2D0-4AB7-96DD-816C9B52C5C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t="1538" b="-1538"/>
          <a:stretch/>
        </p:blipFill>
        <p:spPr bwMode="black">
          <a:xfrm>
            <a:off x="0" y="9189720"/>
            <a:ext cx="18288000" cy="1114425"/>
          </a:xfrm>
          <a:prstGeom prst="rect">
            <a:avLst/>
          </a:prstGeom>
        </p:spPr>
      </p:pic>
      <p:cxnSp>
        <p:nvCxnSpPr>
          <p:cNvPr id="26" name="Straight Connector 25">
            <a:extLst>
              <a:ext uri="{FF2B5EF4-FFF2-40B4-BE49-F238E27FC236}">
                <a16:creationId xmlns:a16="http://schemas.microsoft.com/office/drawing/2014/main" id="{FCDDCDFB-696D-4FDF-9B58-24F71B7C37B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9192619"/>
            <a:ext cx="18288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20476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50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7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docProps/app.xml><?xml version="1.0" encoding="utf-8"?>
<Properties xmlns="http://schemas.openxmlformats.org/officeDocument/2006/extended-properties" xmlns:vt="http://schemas.openxmlformats.org/officeDocument/2006/docPropsVTypes">
  <Template>Gallery</Template>
  <TotalTime>306</TotalTime>
  <Words>586</Words>
  <Application>Microsoft Office PowerPoint</Application>
  <PresentationFormat>Custom</PresentationFormat>
  <Paragraphs>67</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Gill Sans MT</vt:lpstr>
      <vt:lpstr>Nyutro Sans</vt:lpstr>
      <vt:lpstr>ADLaM Display</vt:lpstr>
      <vt:lpstr>Gallery</vt:lpstr>
      <vt:lpstr>PowerPoint Presentation</vt:lpstr>
      <vt:lpstr>INTRODUCTION</vt:lpstr>
      <vt:lpstr>Literature review</vt:lpstr>
      <vt:lpstr>Research gap</vt:lpstr>
      <vt:lpstr>objectives</vt:lpstr>
      <vt:lpstr>Proposed methodology</vt:lpstr>
      <vt:lpstr>Approaches explanation</vt:lpstr>
      <vt:lpstr>Approaches explanation</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Blue Minimalist Modern Professional Presentation</dc:title>
  <dc:creator>Tanishq goel</dc:creator>
  <cp:lastModifiedBy>Tanishq goel</cp:lastModifiedBy>
  <cp:revision>3</cp:revision>
  <dcterms:created xsi:type="dcterms:W3CDTF">2006-08-16T00:00:00Z</dcterms:created>
  <dcterms:modified xsi:type="dcterms:W3CDTF">2026-04-10T17:57:11Z</dcterms:modified>
  <dc:identifier>DAHBaYcGI2M</dc:identifier>
</cp:coreProperties>
</file>