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Nyutro Sans" charset="1" panose="00000000000000000000"/>
      <p:regular r:id="rId21"/>
    </p:embeddedFont>
    <p:embeddedFont>
      <p:font typeface="Sego" charset="1" panose="00000000000000000000"/>
      <p:regular r:id="rId22"/>
    </p:embeddedFont>
    <p:embeddedFont>
      <p:font typeface="Belleza" charset="1" panose="02000503050000020003"/>
      <p:regular r:id="rId23"/>
    </p:embeddedFont>
    <p:embeddedFont>
      <p:font typeface="Nyutro Sans 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9.png" Type="http://schemas.openxmlformats.org/officeDocument/2006/relationships/image"/><Relationship Id="rId5" Target="../media/image2.png" Type="http://schemas.openxmlformats.org/officeDocument/2006/relationships/image"/><Relationship Id="rId6"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true" rot="0">
            <a:off x="-328064" y="5377270"/>
            <a:ext cx="4262923" cy="5120628"/>
          </a:xfrm>
          <a:custGeom>
            <a:avLst/>
            <a:gdLst/>
            <a:ahLst/>
            <a:cxnLst/>
            <a:rect r="r" b="b" t="t" l="l"/>
            <a:pathLst>
              <a:path h="5120628" w="4262923">
                <a:moveTo>
                  <a:pt x="0" y="5120628"/>
                </a:moveTo>
                <a:lnTo>
                  <a:pt x="4262923" y="5120628"/>
                </a:lnTo>
                <a:lnTo>
                  <a:pt x="4262923" y="0"/>
                </a:lnTo>
                <a:lnTo>
                  <a:pt x="0" y="0"/>
                </a:lnTo>
                <a:lnTo>
                  <a:pt x="0" y="5120628"/>
                </a:lnTo>
                <a:close/>
              </a:path>
            </a:pathLst>
          </a:custGeom>
          <a:blipFill>
            <a:blip r:embed="rId3"/>
            <a:stretch>
              <a:fillRect l="0" t="0" r="0" b="0"/>
            </a:stretch>
          </a:blipFill>
        </p:spPr>
      </p:sp>
      <p:sp>
        <p:nvSpPr>
          <p:cNvPr name="Freeform 4" id="4"/>
          <p:cNvSpPr/>
          <p:nvPr/>
        </p:nvSpPr>
        <p:spPr>
          <a:xfrm flipH="false" flipV="false" rot="0">
            <a:off x="-908719" y="7786423"/>
            <a:ext cx="16230600" cy="4037362"/>
          </a:xfrm>
          <a:custGeom>
            <a:avLst/>
            <a:gdLst/>
            <a:ahLst/>
            <a:cxnLst/>
            <a:rect r="r" b="b" t="t" l="l"/>
            <a:pathLst>
              <a:path h="4037362" w="16230600">
                <a:moveTo>
                  <a:pt x="0" y="0"/>
                </a:moveTo>
                <a:lnTo>
                  <a:pt x="16230600" y="0"/>
                </a:lnTo>
                <a:lnTo>
                  <a:pt x="16230600" y="4037362"/>
                </a:lnTo>
                <a:lnTo>
                  <a:pt x="0" y="4037362"/>
                </a:lnTo>
                <a:lnTo>
                  <a:pt x="0" y="0"/>
                </a:lnTo>
                <a:close/>
              </a:path>
            </a:pathLst>
          </a:custGeom>
          <a:blipFill>
            <a:blip r:embed="rId4"/>
            <a:stretch>
              <a:fillRect l="0" t="0" r="0" b="0"/>
            </a:stretch>
          </a:blipFill>
        </p:spPr>
      </p:sp>
      <p:sp>
        <p:nvSpPr>
          <p:cNvPr name="Freeform 5" id="5"/>
          <p:cNvSpPr/>
          <p:nvPr/>
        </p:nvSpPr>
        <p:spPr>
          <a:xfrm flipH="false" flipV="false" rot="-10800000">
            <a:off x="2905706" y="-1561569"/>
            <a:ext cx="16230600" cy="4037362"/>
          </a:xfrm>
          <a:custGeom>
            <a:avLst/>
            <a:gdLst/>
            <a:ahLst/>
            <a:cxnLst/>
            <a:rect r="r" b="b" t="t" l="l"/>
            <a:pathLst>
              <a:path h="4037362" w="16230600">
                <a:moveTo>
                  <a:pt x="0" y="0"/>
                </a:moveTo>
                <a:lnTo>
                  <a:pt x="16230600" y="0"/>
                </a:lnTo>
                <a:lnTo>
                  <a:pt x="16230600" y="4037361"/>
                </a:lnTo>
                <a:lnTo>
                  <a:pt x="0" y="4037361"/>
                </a:lnTo>
                <a:lnTo>
                  <a:pt x="0" y="0"/>
                </a:lnTo>
                <a:close/>
              </a:path>
            </a:pathLst>
          </a:custGeom>
          <a:blipFill>
            <a:blip r:embed="rId4"/>
            <a:stretch>
              <a:fillRect l="0" t="0" r="0" b="0"/>
            </a:stretch>
          </a:blipFill>
        </p:spPr>
      </p:sp>
      <p:sp>
        <p:nvSpPr>
          <p:cNvPr name="Freeform 6" id="6"/>
          <p:cNvSpPr/>
          <p:nvPr/>
        </p:nvSpPr>
        <p:spPr>
          <a:xfrm flipH="true" flipV="false" rot="0">
            <a:off x="14260813" y="-84522"/>
            <a:ext cx="4262923" cy="5120628"/>
          </a:xfrm>
          <a:custGeom>
            <a:avLst/>
            <a:gdLst/>
            <a:ahLst/>
            <a:cxnLst/>
            <a:rect r="r" b="b" t="t" l="l"/>
            <a:pathLst>
              <a:path h="5120628" w="4262923">
                <a:moveTo>
                  <a:pt x="4262923" y="0"/>
                </a:moveTo>
                <a:lnTo>
                  <a:pt x="0" y="0"/>
                </a:lnTo>
                <a:lnTo>
                  <a:pt x="0" y="5120628"/>
                </a:lnTo>
                <a:lnTo>
                  <a:pt x="4262923" y="5120628"/>
                </a:lnTo>
                <a:lnTo>
                  <a:pt x="4262923" y="0"/>
                </a:lnTo>
                <a:close/>
              </a:path>
            </a:pathLst>
          </a:custGeom>
          <a:blipFill>
            <a:blip r:embed="rId3"/>
            <a:stretch>
              <a:fillRect l="0" t="0" r="0" b="0"/>
            </a:stretch>
          </a:blipFill>
        </p:spPr>
      </p:sp>
      <p:sp>
        <p:nvSpPr>
          <p:cNvPr name="Freeform 7" id="7"/>
          <p:cNvSpPr/>
          <p:nvPr/>
        </p:nvSpPr>
        <p:spPr>
          <a:xfrm flipH="false" flipV="false" rot="0">
            <a:off x="421237" y="1028700"/>
            <a:ext cx="4467411" cy="1317139"/>
          </a:xfrm>
          <a:custGeom>
            <a:avLst/>
            <a:gdLst/>
            <a:ahLst/>
            <a:cxnLst/>
            <a:rect r="r" b="b" t="t" l="l"/>
            <a:pathLst>
              <a:path h="1317139" w="4467411">
                <a:moveTo>
                  <a:pt x="0" y="0"/>
                </a:moveTo>
                <a:lnTo>
                  <a:pt x="4467410" y="0"/>
                </a:lnTo>
                <a:lnTo>
                  <a:pt x="4467410" y="1317139"/>
                </a:lnTo>
                <a:lnTo>
                  <a:pt x="0" y="1317139"/>
                </a:lnTo>
                <a:lnTo>
                  <a:pt x="0" y="0"/>
                </a:lnTo>
                <a:close/>
              </a:path>
            </a:pathLst>
          </a:custGeom>
          <a:blipFill>
            <a:blip r:embed="rId5"/>
            <a:stretch>
              <a:fillRect l="0" t="0" r="0" b="0"/>
            </a:stretch>
          </a:blipFill>
        </p:spPr>
      </p:sp>
      <p:sp>
        <p:nvSpPr>
          <p:cNvPr name="TextBox 8" id="8"/>
          <p:cNvSpPr txBox="true"/>
          <p:nvPr/>
        </p:nvSpPr>
        <p:spPr>
          <a:xfrm rot="0">
            <a:off x="1803398" y="5683611"/>
            <a:ext cx="15021257" cy="695029"/>
          </a:xfrm>
          <a:prstGeom prst="rect">
            <a:avLst/>
          </a:prstGeom>
        </p:spPr>
        <p:txBody>
          <a:bodyPr anchor="t" rtlCol="false" tIns="0" lIns="0" bIns="0" rIns="0">
            <a:spAutoFit/>
          </a:bodyPr>
          <a:lstStyle/>
          <a:p>
            <a:pPr algn="ctr">
              <a:lnSpc>
                <a:spcPts val="5003"/>
              </a:lnSpc>
            </a:pPr>
            <a:r>
              <a:rPr lang="en-US" sz="3574">
                <a:solidFill>
                  <a:srgbClr val="161B1C"/>
                </a:solidFill>
                <a:latin typeface="Nyutro Sans"/>
                <a:ea typeface="Nyutro Sans"/>
                <a:cs typeface="Nyutro Sans"/>
                <a:sym typeface="Nyutro Sans"/>
              </a:rPr>
              <a:t>Bio-Inspired Generative Optimization for Gene-Based Disease Classification</a:t>
            </a:r>
          </a:p>
        </p:txBody>
      </p:sp>
      <p:sp>
        <p:nvSpPr>
          <p:cNvPr name="TextBox 9" id="9"/>
          <p:cNvSpPr txBox="true"/>
          <p:nvPr/>
        </p:nvSpPr>
        <p:spPr>
          <a:xfrm rot="0">
            <a:off x="3821377" y="3794862"/>
            <a:ext cx="10439436" cy="2234839"/>
          </a:xfrm>
          <a:prstGeom prst="rect">
            <a:avLst/>
          </a:prstGeom>
        </p:spPr>
        <p:txBody>
          <a:bodyPr anchor="t" rtlCol="false" tIns="0" lIns="0" bIns="0" rIns="0">
            <a:spAutoFit/>
          </a:bodyPr>
          <a:lstStyle/>
          <a:p>
            <a:pPr algn="ctr">
              <a:lnSpc>
                <a:spcPts val="18294"/>
              </a:lnSpc>
            </a:pPr>
            <a:r>
              <a:rPr lang="en-US" sz="13067">
                <a:solidFill>
                  <a:srgbClr val="161B1C"/>
                </a:solidFill>
                <a:latin typeface="Sego"/>
                <a:ea typeface="Sego"/>
                <a:cs typeface="Sego"/>
                <a:sym typeface="Sego"/>
              </a:rPr>
              <a:t>Bioclassify</a:t>
            </a:r>
          </a:p>
        </p:txBody>
      </p:sp>
      <p:sp>
        <p:nvSpPr>
          <p:cNvPr name="TextBox 10" id="10"/>
          <p:cNvSpPr txBox="true"/>
          <p:nvPr/>
        </p:nvSpPr>
        <p:spPr>
          <a:xfrm rot="0">
            <a:off x="13177764" y="7283492"/>
            <a:ext cx="4288234" cy="1184358"/>
          </a:xfrm>
          <a:prstGeom prst="rect">
            <a:avLst/>
          </a:prstGeom>
        </p:spPr>
        <p:txBody>
          <a:bodyPr anchor="t" rtlCol="false" tIns="0" lIns="0" bIns="0" rIns="0">
            <a:spAutoFit/>
          </a:bodyPr>
          <a:lstStyle/>
          <a:p>
            <a:pPr algn="ctr">
              <a:lnSpc>
                <a:spcPts val="4545"/>
              </a:lnSpc>
            </a:pPr>
            <a:r>
              <a:rPr lang="en-US" sz="3246">
                <a:solidFill>
                  <a:srgbClr val="161B1C"/>
                </a:solidFill>
                <a:latin typeface="Nyutro Sans"/>
                <a:ea typeface="Nyutro Sans"/>
                <a:cs typeface="Nyutro Sans"/>
                <a:sym typeface="Nyutro Sans"/>
              </a:rPr>
              <a:t>Supe</a:t>
            </a:r>
            <a:r>
              <a:rPr lang="en-US" sz="3246">
                <a:solidFill>
                  <a:srgbClr val="161B1C"/>
                </a:solidFill>
                <a:latin typeface="Nyutro Sans"/>
                <a:ea typeface="Nyutro Sans"/>
                <a:cs typeface="Nyutro Sans"/>
                <a:sym typeface="Nyutro Sans"/>
              </a:rPr>
              <a:t>rvised By:?Dr. Gireesh Kumar</a:t>
            </a:r>
          </a:p>
        </p:txBody>
      </p:sp>
      <p:sp>
        <p:nvSpPr>
          <p:cNvPr name="TextBox 11" id="11"/>
          <p:cNvSpPr txBox="true"/>
          <p:nvPr/>
        </p:nvSpPr>
        <p:spPr>
          <a:xfrm rot="0">
            <a:off x="643684" y="7054719"/>
            <a:ext cx="4244963" cy="1641904"/>
          </a:xfrm>
          <a:prstGeom prst="rect">
            <a:avLst/>
          </a:prstGeom>
        </p:spPr>
        <p:txBody>
          <a:bodyPr anchor="t" rtlCol="false" tIns="0" lIns="0" bIns="0" rIns="0">
            <a:spAutoFit/>
          </a:bodyPr>
          <a:lstStyle/>
          <a:p>
            <a:pPr algn="ctr">
              <a:lnSpc>
                <a:spcPts val="4228"/>
              </a:lnSpc>
            </a:pPr>
            <a:r>
              <a:rPr lang="en-US" sz="3020">
                <a:solidFill>
                  <a:srgbClr val="161B1C"/>
                </a:solidFill>
                <a:latin typeface="Nyutro Sans"/>
                <a:ea typeface="Nyutro Sans"/>
                <a:cs typeface="Nyutro Sans"/>
                <a:sym typeface="Nyutro Sans"/>
              </a:rPr>
              <a:t>Submitt</a:t>
            </a:r>
            <a:r>
              <a:rPr lang="en-US" sz="3020">
                <a:solidFill>
                  <a:srgbClr val="161B1C"/>
                </a:solidFill>
                <a:latin typeface="Nyutro Sans"/>
                <a:ea typeface="Nyutro Sans"/>
                <a:cs typeface="Nyutro Sans"/>
                <a:sym typeface="Nyutro Sans"/>
              </a:rPr>
              <a:t>ed By:?</a:t>
            </a:r>
          </a:p>
          <a:p>
            <a:pPr algn="ctr">
              <a:lnSpc>
                <a:spcPts val="4228"/>
              </a:lnSpc>
            </a:pPr>
            <a:r>
              <a:rPr lang="en-US" sz="3020">
                <a:solidFill>
                  <a:srgbClr val="161B1C"/>
                </a:solidFill>
                <a:latin typeface="Nyutro Sans"/>
                <a:ea typeface="Nyutro Sans"/>
                <a:cs typeface="Nyutro Sans"/>
                <a:sym typeface="Nyutro Sans"/>
              </a:rPr>
              <a:t>Tanishq Goel</a:t>
            </a:r>
          </a:p>
          <a:p>
            <a:pPr algn="ctr">
              <a:lnSpc>
                <a:spcPts val="4228"/>
              </a:lnSpc>
            </a:pPr>
            <a:r>
              <a:rPr lang="en-US" sz="3020">
                <a:solidFill>
                  <a:srgbClr val="161B1C"/>
                </a:solidFill>
                <a:latin typeface="Nyutro Sans"/>
                <a:ea typeface="Nyutro Sans"/>
                <a:cs typeface="Nyutro Sans"/>
                <a:sym typeface="Nyutro Sans"/>
              </a:rPr>
              <a:t>2427030744</a:t>
            </a:r>
          </a:p>
        </p:txBody>
      </p:sp>
      <p:sp>
        <p:nvSpPr>
          <p:cNvPr name="TextBox 12" id="12"/>
          <p:cNvSpPr txBox="true"/>
          <p:nvPr/>
        </p:nvSpPr>
        <p:spPr>
          <a:xfrm rot="0">
            <a:off x="2299746" y="2351967"/>
            <a:ext cx="13688509" cy="1195521"/>
          </a:xfrm>
          <a:prstGeom prst="rect">
            <a:avLst/>
          </a:prstGeom>
        </p:spPr>
        <p:txBody>
          <a:bodyPr anchor="t" rtlCol="false" tIns="0" lIns="0" bIns="0" rIns="0">
            <a:spAutoFit/>
          </a:bodyPr>
          <a:lstStyle/>
          <a:p>
            <a:pPr algn="ctr">
              <a:lnSpc>
                <a:spcPts val="4559"/>
              </a:lnSpc>
            </a:pPr>
            <a:r>
              <a:rPr lang="en-US" sz="3256">
                <a:solidFill>
                  <a:srgbClr val="161B1C"/>
                </a:solidFill>
                <a:latin typeface="Nyutro Sans"/>
                <a:ea typeface="Nyutro Sans"/>
                <a:cs typeface="Nyutro Sans"/>
                <a:sym typeface="Nyutro Sans"/>
              </a:rPr>
              <a:t>School </a:t>
            </a:r>
            <a:r>
              <a:rPr lang="en-US" sz="3256">
                <a:solidFill>
                  <a:srgbClr val="161B1C"/>
                </a:solidFill>
                <a:latin typeface="Nyutro Sans"/>
                <a:ea typeface="Nyutro Sans"/>
                <a:cs typeface="Nyutro Sans"/>
                <a:sym typeface="Nyutro Sans"/>
              </a:rPr>
              <a:t>of Computer Science and Engineering</a:t>
            </a:r>
          </a:p>
          <a:p>
            <a:pPr algn="ctr">
              <a:lnSpc>
                <a:spcPts val="4559"/>
              </a:lnSpc>
            </a:pPr>
            <a:r>
              <a:rPr lang="en-US" sz="3256">
                <a:solidFill>
                  <a:srgbClr val="161B1C"/>
                </a:solidFill>
                <a:latin typeface="Nyutro Sans"/>
                <a:ea typeface="Nyutro Sans"/>
                <a:cs typeface="Nyutro Sans"/>
                <a:sym typeface="Nyutro Sans"/>
              </a:rPr>
              <a:t>Department of Computer Science and Engineering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8FCFF"/>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691527" y="3139524"/>
            <a:ext cx="15159333" cy="6337672"/>
          </a:xfrm>
          <a:prstGeom prst="rect">
            <a:avLst/>
          </a:prstGeom>
        </p:spPr>
        <p:txBody>
          <a:bodyPr anchor="t" rtlCol="false" tIns="0" lIns="0" bIns="0" rIns="0">
            <a:spAutoFit/>
          </a:bodyPr>
          <a:lstStyle/>
          <a:p>
            <a:pPr algn="l">
              <a:lnSpc>
                <a:spcPts val="3882"/>
              </a:lnSpc>
            </a:pPr>
            <a:r>
              <a:rPr lang="en-US" sz="2571">
                <a:solidFill>
                  <a:srgbClr val="161B1C"/>
                </a:solidFill>
                <a:latin typeface="Nyutro Sans"/>
                <a:ea typeface="Nyutro Sans"/>
                <a:cs typeface="Nyutro Sans"/>
                <a:sym typeface="Nyutro Sans"/>
              </a:rPr>
              <a:t>In </a:t>
            </a:r>
            <a:r>
              <a:rPr lang="en-US" sz="2571">
                <a:solidFill>
                  <a:srgbClr val="161B1C"/>
                </a:solidFill>
                <a:latin typeface="Nyutro Sans"/>
                <a:ea typeface="Nyutro Sans"/>
                <a:cs typeface="Nyutro Sans"/>
                <a:sym typeface="Nyutro Sans"/>
              </a:rPr>
              <a:t>recent times, the classification of diseases based on genes has acquired considerable significance in the medical field of artificial intelligence. This is because it can aid in the early diagnosis of diseases and provide personalized treatment. However, the classification of diseases based on genes is facing a major challenge. The datasets used in gene expression consist of thousands of genes but only a few patient samples. </a:t>
            </a:r>
          </a:p>
          <a:p>
            <a:pPr algn="l">
              <a:lnSpc>
                <a:spcPts val="3882"/>
              </a:lnSpc>
            </a:pPr>
            <a:r>
              <a:rPr lang="en-US" sz="2571">
                <a:solidFill>
                  <a:srgbClr val="161B1C"/>
                </a:solidFill>
                <a:latin typeface="Nyutro Sans"/>
                <a:ea typeface="Nyutro Sans"/>
                <a:cs typeface="Nyutro Sans"/>
                <a:sym typeface="Nyutro Sans"/>
              </a:rPr>
              <a:t>As a result of these high-dimensional features, conventional machine learning algorithms cannot efficiently find the most important genes. This leads to overfitting of the model, resulting in low accuracy.</a:t>
            </a:r>
          </a:p>
          <a:p>
            <a:pPr algn="l">
              <a:lnSpc>
                <a:spcPts val="3882"/>
              </a:lnSpc>
            </a:pPr>
          </a:p>
          <a:p>
            <a:pPr algn="l">
              <a:lnSpc>
                <a:spcPts val="3882"/>
              </a:lnSpc>
            </a:pPr>
            <a:r>
              <a:rPr lang="en-US" sz="2571">
                <a:solidFill>
                  <a:srgbClr val="161B1C"/>
                </a:solidFill>
                <a:latin typeface="Nyutro Sans"/>
                <a:ea typeface="Nyutro Sans"/>
                <a:cs typeface="Nyutro Sans"/>
                <a:sym typeface="Nyutro Sans"/>
              </a:rPr>
              <a:t>In order to overcome these problems, our project introduces a new intelligent approach that integrates optimization algorithms with generative learning models. The aim of the project is to enhance the accuracy of the model in selecting genes, create new samples using generative learning, and develop a reliable disease classification system.</a:t>
            </a:r>
          </a:p>
          <a:p>
            <a:pPr algn="ctr">
              <a:lnSpc>
                <a:spcPts val="3882"/>
              </a:lnSpc>
            </a:pPr>
          </a:p>
        </p:txBody>
      </p:sp>
      <p:sp>
        <p:nvSpPr>
          <p:cNvPr name="TextBox 11" id="11"/>
          <p:cNvSpPr txBox="true"/>
          <p:nvPr/>
        </p:nvSpPr>
        <p:spPr>
          <a:xfrm rot="0">
            <a:off x="4539196" y="1720299"/>
            <a:ext cx="9209608" cy="1543050"/>
          </a:xfrm>
          <a:prstGeom prst="rect">
            <a:avLst/>
          </a:prstGeom>
        </p:spPr>
        <p:txBody>
          <a:bodyPr anchor="t" rtlCol="false" tIns="0" lIns="0" bIns="0" rIns="0">
            <a:spAutoFit/>
          </a:bodyPr>
          <a:lstStyle/>
          <a:p>
            <a:pPr algn="ctr">
              <a:lnSpc>
                <a:spcPts val="12599"/>
              </a:lnSpc>
            </a:pPr>
            <a:r>
              <a:rPr lang="en-US" sz="9000">
                <a:solidFill>
                  <a:srgbClr val="161B1C"/>
                </a:solidFill>
                <a:latin typeface="Sego"/>
                <a:ea typeface="Sego"/>
                <a:cs typeface="Sego"/>
                <a:sym typeface="Sego"/>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225483" y="1288905"/>
            <a:ext cx="6295277" cy="3854595"/>
          </a:xfrm>
          <a:custGeom>
            <a:avLst/>
            <a:gdLst/>
            <a:ahLst/>
            <a:cxnLst/>
            <a:rect r="r" b="b" t="t" l="l"/>
            <a:pathLst>
              <a:path h="3854595" w="6295277">
                <a:moveTo>
                  <a:pt x="0" y="0"/>
                </a:moveTo>
                <a:lnTo>
                  <a:pt x="6295278" y="0"/>
                </a:lnTo>
                <a:lnTo>
                  <a:pt x="6295278" y="3854595"/>
                </a:lnTo>
                <a:lnTo>
                  <a:pt x="0" y="3854595"/>
                </a:lnTo>
                <a:lnTo>
                  <a:pt x="0" y="0"/>
                </a:lnTo>
                <a:close/>
              </a:path>
            </a:pathLst>
          </a:custGeom>
          <a:blipFill>
            <a:blip r:embed="rId5"/>
            <a:stretch>
              <a:fillRect l="0" t="0" r="0" b="0"/>
            </a:stretch>
          </a:blipFill>
        </p:spPr>
      </p:sp>
      <p:sp>
        <p:nvSpPr>
          <p:cNvPr name="Freeform 11" id="11"/>
          <p:cNvSpPr/>
          <p:nvPr/>
        </p:nvSpPr>
        <p:spPr>
          <a:xfrm flipH="false" flipV="false" rot="0">
            <a:off x="5309876" y="5143500"/>
            <a:ext cx="7126554" cy="3913322"/>
          </a:xfrm>
          <a:custGeom>
            <a:avLst/>
            <a:gdLst/>
            <a:ahLst/>
            <a:cxnLst/>
            <a:rect r="r" b="b" t="t" l="l"/>
            <a:pathLst>
              <a:path h="3913322" w="7126554">
                <a:moveTo>
                  <a:pt x="0" y="0"/>
                </a:moveTo>
                <a:lnTo>
                  <a:pt x="7126554" y="0"/>
                </a:lnTo>
                <a:lnTo>
                  <a:pt x="7126554" y="3913322"/>
                </a:lnTo>
                <a:lnTo>
                  <a:pt x="0" y="3913322"/>
                </a:lnTo>
                <a:lnTo>
                  <a:pt x="0" y="0"/>
                </a:lnTo>
                <a:close/>
              </a:path>
            </a:pathLst>
          </a:custGeom>
          <a:blipFill>
            <a:blip r:embed="rId6"/>
            <a:stretch>
              <a:fillRect l="0" t="0" r="0" b="0"/>
            </a:stretch>
          </a:blipFill>
        </p:spPr>
      </p:sp>
      <p:sp>
        <p:nvSpPr>
          <p:cNvPr name="Freeform 12" id="12"/>
          <p:cNvSpPr/>
          <p:nvPr/>
        </p:nvSpPr>
        <p:spPr>
          <a:xfrm flipH="false" flipV="false" rot="0">
            <a:off x="11041969" y="1289002"/>
            <a:ext cx="5808891" cy="3854498"/>
          </a:xfrm>
          <a:custGeom>
            <a:avLst/>
            <a:gdLst/>
            <a:ahLst/>
            <a:cxnLst/>
            <a:rect r="r" b="b" t="t" l="l"/>
            <a:pathLst>
              <a:path h="3854498" w="5808891">
                <a:moveTo>
                  <a:pt x="0" y="0"/>
                </a:moveTo>
                <a:lnTo>
                  <a:pt x="5808891" y="0"/>
                </a:lnTo>
                <a:lnTo>
                  <a:pt x="5808891" y="3854498"/>
                </a:lnTo>
                <a:lnTo>
                  <a:pt x="0" y="3854498"/>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441144" y="2384713"/>
            <a:ext cx="15169552" cy="6692408"/>
          </a:xfrm>
          <a:prstGeom prst="rect">
            <a:avLst/>
          </a:prstGeom>
        </p:spPr>
        <p:txBody>
          <a:bodyPr anchor="t" rtlCol="false" tIns="0" lIns="0" bIns="0" rIns="0">
            <a:spAutoFit/>
          </a:bodyPr>
          <a:lstStyle/>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Lately, high-throughput genomics—think microarray and single-cell RNA sequencing—has been churning out massive, high-dimensional gene expression datasets. But even with all this data, disease classification isn’t easy. There’s just so much information, too many redundant genes, classes that aren’t balanced, and a ton of biological noise. People have tried to tackle these problems using bio-inspired optimization methods like Genetic Algorithms (GA), Particle Swarm Optimization (PSO), and other evolutionary metaheuristics. </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These techniques, especially GA-based feature selection, have actually helped; they pick out smaller, more informative sets of genes and push classification accuracy up, especially in cancer studies. At the same time, deep generative models—like Variational Autoencoders (VAE), conditional VAEs, and scVI-based systems—are showing serious promise. They handle the complexity of gene expression data, strip out technical noise, and shrink the data down to something more manageable for classification. </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Recent single-cell genomics research points out how these generative models can help with clustering, representation learning, even dose response predictions. Plus, researchers have started using them to generate synthetic data, which helps balance out classes in messy biomedical datasets. </a:t>
            </a:r>
          </a:p>
        </p:txBody>
      </p:sp>
      <p:sp>
        <p:nvSpPr>
          <p:cNvPr name="TextBox 11" id="11"/>
          <p:cNvSpPr txBox="true"/>
          <p:nvPr/>
        </p:nvSpPr>
        <p:spPr>
          <a:xfrm rot="0">
            <a:off x="4858809" y="1051164"/>
            <a:ext cx="8570381" cy="1457374"/>
          </a:xfrm>
          <a:prstGeom prst="rect">
            <a:avLst/>
          </a:prstGeom>
        </p:spPr>
        <p:txBody>
          <a:bodyPr anchor="t" rtlCol="false" tIns="0" lIns="0" bIns="0" rIns="0">
            <a:spAutoFit/>
          </a:bodyPr>
          <a:lstStyle/>
          <a:p>
            <a:pPr algn="ctr">
              <a:lnSpc>
                <a:spcPts val="11725"/>
              </a:lnSpc>
            </a:pPr>
            <a:r>
              <a:rPr lang="en-US" sz="8375">
                <a:solidFill>
                  <a:srgbClr val="161B1C"/>
                </a:solidFill>
                <a:latin typeface="Sego"/>
                <a:ea typeface="Sego"/>
                <a:cs typeface="Sego"/>
                <a:sym typeface="Sego"/>
              </a:rPr>
              <a:t>Literature Review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5"/>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2752873" y="2838160"/>
            <a:ext cx="4652895" cy="4652895"/>
            <a:chOff x="0" y="0"/>
            <a:chExt cx="6350000" cy="6350000"/>
          </a:xfrm>
        </p:grpSpPr>
        <p:sp>
          <p:nvSpPr>
            <p:cNvPr name="Freeform 11" id="11"/>
            <p:cNvSpPr/>
            <p:nvPr/>
          </p:nvSpPr>
          <p:spPr>
            <a:xfrm flipH="false" flipV="false" rot="0">
              <a:off x="541020" y="537210"/>
              <a:ext cx="5255260" cy="5255260"/>
            </a:xfrm>
            <a:custGeom>
              <a:avLst/>
              <a:gdLst/>
              <a:ahLst/>
              <a:cxnLst/>
              <a:rect r="r" b="b" t="t" l="l"/>
              <a:pathLst>
                <a:path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l="-123819" t="-10968" r="0" b="-14930"/>
              </a:stretch>
            </a:blipFill>
            <a:ln w="38100" cap="sq">
              <a:solidFill>
                <a:srgbClr val="6D869A"/>
              </a:solidFill>
              <a:prstDash val="solid"/>
              <a:miter/>
            </a:ln>
          </p:spPr>
        </p:sp>
      </p:grpSp>
      <p:sp>
        <p:nvSpPr>
          <p:cNvPr name="TextBox 12" id="12"/>
          <p:cNvSpPr txBox="true"/>
          <p:nvPr/>
        </p:nvSpPr>
        <p:spPr>
          <a:xfrm rot="0">
            <a:off x="1028700" y="2797504"/>
            <a:ext cx="11955999" cy="6595457"/>
          </a:xfrm>
          <a:prstGeom prst="rect">
            <a:avLst/>
          </a:prstGeom>
        </p:spPr>
        <p:txBody>
          <a:bodyPr anchor="t" rtlCol="false" tIns="0" lIns="0" bIns="0" rIns="0">
            <a:spAutoFit/>
          </a:bodyPr>
          <a:lstStyle/>
          <a:p>
            <a:pPr algn="just" marL="499540" indent="-249770" lvl="1">
              <a:lnSpc>
                <a:spcPts val="3493"/>
              </a:lnSpc>
              <a:buFont typeface="Arial"/>
              <a:buChar char="•"/>
            </a:pPr>
            <a:r>
              <a:rPr lang="en-US" sz="2313">
                <a:solidFill>
                  <a:srgbClr val="161B1C"/>
                </a:solidFill>
                <a:latin typeface="Nyutro Sans"/>
                <a:ea typeface="Nyutro Sans"/>
                <a:cs typeface="Nyutro Sans"/>
                <a:sym typeface="Nyutro Sans"/>
              </a:rPr>
              <a:t>After digging thr</a:t>
            </a:r>
            <a:r>
              <a:rPr lang="en-US" sz="2313">
                <a:solidFill>
                  <a:srgbClr val="161B1C"/>
                </a:solidFill>
                <a:latin typeface="Nyutro Sans"/>
                <a:ea typeface="Nyutro Sans"/>
                <a:cs typeface="Nyutro Sans"/>
                <a:sym typeface="Nyutro Sans"/>
              </a:rPr>
              <a:t>ough around 10 research articles, it’s clear there’s a real gap: nobody’s put together a truly integrated bio-inspired generative optimization pipeline. We’re missing a framework that brings together evolutionary gene selection, deep latent-space learning, and class-balanced synthetic data generation—all in one place—for robust disease classification. There’s a real need for a pipeline that does the following: </a:t>
            </a:r>
          </a:p>
          <a:p>
            <a:pPr algn="just" marL="499540" indent="-249770" lvl="1">
              <a:lnSpc>
                <a:spcPts val="3493"/>
              </a:lnSpc>
              <a:buFont typeface="Arial"/>
              <a:buChar char="•"/>
            </a:pPr>
            <a:r>
              <a:rPr lang="en-US" sz="2313">
                <a:solidFill>
                  <a:srgbClr val="161B1C"/>
                </a:solidFill>
                <a:latin typeface="Nyutro Sans"/>
                <a:ea typeface="Nyutro Sans"/>
                <a:cs typeface="Nyutro Sans"/>
                <a:sym typeface="Nyutro Sans"/>
              </a:rPr>
              <a:t>Uses bio-inspired optimization (like GA or hybrid metaheuristics) to pick out stable, biologically meaningful genes. </a:t>
            </a:r>
          </a:p>
          <a:p>
            <a:pPr algn="just" marL="499540" indent="-249770" lvl="1">
              <a:lnSpc>
                <a:spcPts val="3493"/>
              </a:lnSpc>
              <a:buFont typeface="Arial"/>
              <a:buChar char="•"/>
            </a:pPr>
            <a:r>
              <a:rPr lang="en-US" sz="2313">
                <a:solidFill>
                  <a:srgbClr val="161B1C"/>
                </a:solidFill>
                <a:latin typeface="Nyutro Sans"/>
                <a:ea typeface="Nyutro Sans"/>
                <a:cs typeface="Nyutro Sans"/>
                <a:sym typeface="Nyutro Sans"/>
              </a:rPr>
              <a:t>Leverages deep generative models (like cVAE or scVI) for both learning latent representations and making new data. </a:t>
            </a:r>
          </a:p>
          <a:p>
            <a:pPr algn="just" marL="499540" indent="-249770" lvl="1">
              <a:lnSpc>
                <a:spcPts val="3493"/>
              </a:lnSpc>
              <a:buFont typeface="Arial"/>
              <a:buChar char="•"/>
            </a:pPr>
            <a:r>
              <a:rPr lang="en-US" sz="2313">
                <a:solidFill>
                  <a:srgbClr val="161B1C"/>
                </a:solidFill>
                <a:latin typeface="Nyutro Sans"/>
                <a:ea typeface="Nyutro Sans"/>
                <a:cs typeface="Nyutro Sans"/>
                <a:sym typeface="Nyutro Sans"/>
              </a:rPr>
              <a:t>Looks beyond just accuracy—evaluates gene stability and pathway enrichment, too. </a:t>
            </a:r>
          </a:p>
          <a:p>
            <a:pPr algn="just" marL="499540" indent="-249770" lvl="1">
              <a:lnSpc>
                <a:spcPts val="3493"/>
              </a:lnSpc>
              <a:buFont typeface="Arial"/>
              <a:buChar char="•"/>
            </a:pPr>
            <a:r>
              <a:rPr lang="en-US" sz="2313">
                <a:solidFill>
                  <a:srgbClr val="161B1C"/>
                </a:solidFill>
                <a:latin typeface="Nyutro Sans"/>
                <a:ea typeface="Nyutro Sans"/>
                <a:cs typeface="Nyutro Sans"/>
                <a:sym typeface="Nyutro Sans"/>
              </a:rPr>
              <a:t>Deals with class imbalance by generating synthetic samples in a controlled way. With this in mind, the proposed research aims to build a unified Bio-inspired Generative Optimization  framework that connects evolutionary computation and deep generative learning. </a:t>
            </a:r>
          </a:p>
          <a:p>
            <a:pPr algn="just">
              <a:lnSpc>
                <a:spcPts val="3493"/>
              </a:lnSpc>
            </a:pPr>
          </a:p>
        </p:txBody>
      </p:sp>
      <p:sp>
        <p:nvSpPr>
          <p:cNvPr name="TextBox 13" id="13"/>
          <p:cNvSpPr txBox="true"/>
          <p:nvPr/>
        </p:nvSpPr>
        <p:spPr>
          <a:xfrm rot="0">
            <a:off x="4539196" y="1368754"/>
            <a:ext cx="9209608" cy="1543050"/>
          </a:xfrm>
          <a:prstGeom prst="rect">
            <a:avLst/>
          </a:prstGeom>
        </p:spPr>
        <p:txBody>
          <a:bodyPr anchor="t" rtlCol="false" tIns="0" lIns="0" bIns="0" rIns="0">
            <a:spAutoFit/>
          </a:bodyPr>
          <a:lstStyle/>
          <a:p>
            <a:pPr algn="ctr">
              <a:lnSpc>
                <a:spcPts val="12599"/>
              </a:lnSpc>
            </a:pPr>
            <a:r>
              <a:rPr lang="en-US" sz="9000">
                <a:solidFill>
                  <a:srgbClr val="161B1C"/>
                </a:solidFill>
                <a:latin typeface="Sego"/>
                <a:ea typeface="Sego"/>
                <a:cs typeface="Sego"/>
                <a:sym typeface="Sego"/>
              </a:rPr>
              <a:t>Research Gap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2123291" y="4017682"/>
            <a:ext cx="13459134" cy="3573653"/>
          </a:xfrm>
          <a:prstGeom prst="rect">
            <a:avLst/>
          </a:prstGeom>
        </p:spPr>
        <p:txBody>
          <a:bodyPr anchor="t" rtlCol="false" tIns="0" lIns="0" bIns="0" rIns="0">
            <a:spAutoFit/>
          </a:bodyPr>
          <a:lstStyle/>
          <a:p>
            <a:pPr algn="ctr">
              <a:lnSpc>
                <a:spcPts val="4681"/>
              </a:lnSpc>
            </a:pPr>
            <a:r>
              <a:rPr lang="en-US" sz="3100">
                <a:solidFill>
                  <a:srgbClr val="161B1C"/>
                </a:solidFill>
                <a:latin typeface="Nyutro Sans"/>
                <a:ea typeface="Nyutro Sans"/>
                <a:cs typeface="Nyutro Sans"/>
                <a:sym typeface="Nyutro Sans"/>
              </a:rPr>
              <a:t>Gene-based disease classification suffers from high-dimensional data, limited samples, and ineffective gene selection, leading to poor prediction accuracy. </a:t>
            </a:r>
          </a:p>
          <a:p>
            <a:pPr algn="ctr">
              <a:lnSpc>
                <a:spcPts val="4681"/>
              </a:lnSpc>
            </a:pPr>
            <a:r>
              <a:rPr lang="en-US" sz="3100">
                <a:solidFill>
                  <a:srgbClr val="161B1C"/>
                </a:solidFill>
                <a:latin typeface="Nyutro Sans"/>
                <a:ea typeface="Nyutro Sans"/>
                <a:cs typeface="Nyutro Sans"/>
                <a:sym typeface="Nyutro Sans"/>
              </a:rPr>
              <a:t>The problem is to develop a hybrid bio-inspired generative optimization approach that can select important genes, augment data, and improve disease classification performance.</a:t>
            </a:r>
          </a:p>
          <a:p>
            <a:pPr algn="ctr">
              <a:lnSpc>
                <a:spcPts val="4681"/>
              </a:lnSpc>
            </a:pPr>
          </a:p>
        </p:txBody>
      </p:sp>
      <p:sp>
        <p:nvSpPr>
          <p:cNvPr name="TextBox 11" id="11"/>
          <p:cNvSpPr txBox="true"/>
          <p:nvPr/>
        </p:nvSpPr>
        <p:spPr>
          <a:xfrm rot="0">
            <a:off x="3185613" y="1742534"/>
            <a:ext cx="11916775" cy="1543050"/>
          </a:xfrm>
          <a:prstGeom prst="rect">
            <a:avLst/>
          </a:prstGeom>
        </p:spPr>
        <p:txBody>
          <a:bodyPr anchor="t" rtlCol="false" tIns="0" lIns="0" bIns="0" rIns="0">
            <a:spAutoFit/>
          </a:bodyPr>
          <a:lstStyle/>
          <a:p>
            <a:pPr algn="ctr">
              <a:lnSpc>
                <a:spcPts val="12599"/>
              </a:lnSpc>
            </a:pPr>
            <a:r>
              <a:rPr lang="en-US" sz="9000">
                <a:solidFill>
                  <a:srgbClr val="161B1C"/>
                </a:solidFill>
                <a:latin typeface="Sego"/>
                <a:ea typeface="Sego"/>
                <a:cs typeface="Sego"/>
                <a:sym typeface="Sego"/>
              </a:rPr>
              <a:t>Problem Statement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5"/>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2284082" y="3146966"/>
            <a:ext cx="13719836" cy="5004054"/>
          </a:xfrm>
          <a:prstGeom prst="rect">
            <a:avLst/>
          </a:prstGeom>
        </p:spPr>
        <p:txBody>
          <a:bodyPr anchor="t" rtlCol="false" tIns="0" lIns="0" bIns="0" rIns="0">
            <a:spAutoFit/>
          </a:bodyPr>
          <a:lstStyle/>
          <a:p>
            <a:pPr algn="just" marL="712468" indent="-356234" lvl="1">
              <a:lnSpc>
                <a:spcPts val="4982"/>
              </a:lnSpc>
              <a:buFont typeface="Arial"/>
              <a:buChar char="•"/>
            </a:pPr>
            <a:r>
              <a:rPr lang="en-US" sz="3299">
                <a:solidFill>
                  <a:srgbClr val="161B1C"/>
                </a:solidFill>
                <a:latin typeface="Belleza"/>
                <a:ea typeface="Belleza"/>
                <a:cs typeface="Belleza"/>
                <a:sym typeface="Belleza"/>
              </a:rPr>
              <a:t>Develop a hybrid system combining bio-inspired optimization and generative learning for gene-based disease classification.</a:t>
            </a:r>
          </a:p>
          <a:p>
            <a:pPr algn="just" marL="712468" indent="-356234" lvl="1">
              <a:lnSpc>
                <a:spcPts val="4982"/>
              </a:lnSpc>
              <a:buFont typeface="Arial"/>
              <a:buChar char="•"/>
            </a:pPr>
            <a:r>
              <a:rPr lang="en-US" sz="3299">
                <a:solidFill>
                  <a:srgbClr val="161B1C"/>
                </a:solidFill>
                <a:latin typeface="Belleza"/>
                <a:ea typeface="Belleza"/>
                <a:cs typeface="Belleza"/>
                <a:sym typeface="Belleza"/>
              </a:rPr>
              <a:t>Use swarm algorithms (PSO/GWO/DE) to select the most relevant disease-related genes and reduce dimensionality.</a:t>
            </a:r>
          </a:p>
          <a:p>
            <a:pPr algn="just" marL="712468" indent="-356234" lvl="1">
              <a:lnSpc>
                <a:spcPts val="4982"/>
              </a:lnSpc>
              <a:buFont typeface="Arial"/>
              <a:buChar char="•"/>
            </a:pPr>
            <a:r>
              <a:rPr lang="en-US" sz="3299">
                <a:solidFill>
                  <a:srgbClr val="161B1C"/>
                </a:solidFill>
                <a:latin typeface="Belleza"/>
                <a:ea typeface="Belleza"/>
                <a:cs typeface="Belleza"/>
                <a:sym typeface="Belleza"/>
              </a:rPr>
              <a:t>Apply GAN/VAE models to generate additional gene samples and handle limited medical data.</a:t>
            </a:r>
          </a:p>
          <a:p>
            <a:pPr algn="just" marL="712468" indent="-356234" lvl="1">
              <a:lnSpc>
                <a:spcPts val="4982"/>
              </a:lnSpc>
              <a:buFont typeface="Arial"/>
              <a:buChar char="•"/>
            </a:pPr>
            <a:r>
              <a:rPr lang="en-US" sz="3299">
                <a:solidFill>
                  <a:srgbClr val="161B1C"/>
                </a:solidFill>
                <a:latin typeface="Belleza"/>
                <a:ea typeface="Belleza"/>
                <a:cs typeface="Belleza"/>
                <a:sym typeface="Belleza"/>
              </a:rPr>
              <a:t>Build an accurate and robust prediction model to support early diagnosis and clinical decision-making.</a:t>
            </a:r>
          </a:p>
        </p:txBody>
      </p:sp>
      <p:sp>
        <p:nvSpPr>
          <p:cNvPr name="TextBox 11" id="11"/>
          <p:cNvSpPr txBox="true"/>
          <p:nvPr/>
        </p:nvSpPr>
        <p:spPr>
          <a:xfrm rot="0">
            <a:off x="4539196" y="1708691"/>
            <a:ext cx="9209608" cy="1543050"/>
          </a:xfrm>
          <a:prstGeom prst="rect">
            <a:avLst/>
          </a:prstGeom>
        </p:spPr>
        <p:txBody>
          <a:bodyPr anchor="t" rtlCol="false" tIns="0" lIns="0" bIns="0" rIns="0">
            <a:spAutoFit/>
          </a:bodyPr>
          <a:lstStyle/>
          <a:p>
            <a:pPr algn="ctr">
              <a:lnSpc>
                <a:spcPts val="12599"/>
              </a:lnSpc>
            </a:pPr>
            <a:r>
              <a:rPr lang="en-US" sz="9000">
                <a:solidFill>
                  <a:srgbClr val="161B1C"/>
                </a:solidFill>
                <a:latin typeface="Sego"/>
                <a:ea typeface="Sego"/>
                <a:cs typeface="Sego"/>
                <a:sym typeface="Sego"/>
              </a:rPr>
              <a:t>Objectives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1168" y="2266950"/>
            <a:ext cx="15205664" cy="6957314"/>
          </a:xfrm>
          <a:prstGeom prst="rect">
            <a:avLst/>
          </a:prstGeom>
        </p:spPr>
        <p:txBody>
          <a:bodyPr anchor="t" rtlCol="false" tIns="0" lIns="0" bIns="0" rIns="0">
            <a:spAutoFit/>
          </a:bodyPr>
          <a:lstStyle/>
          <a:p>
            <a:pPr algn="just" marL="604521" indent="-302261" lvl="1">
              <a:lnSpc>
                <a:spcPts val="4228"/>
              </a:lnSpc>
              <a:buFont typeface="Arial"/>
              <a:buChar char="•"/>
            </a:pPr>
            <a:r>
              <a:rPr lang="en-US" b="true" sz="2800">
                <a:solidFill>
                  <a:srgbClr val="161B1C"/>
                </a:solidFill>
                <a:latin typeface="Nyutro Sans Bold"/>
                <a:ea typeface="Nyutro Sans Bold"/>
                <a:cs typeface="Nyutro Sans Bold"/>
                <a:sym typeface="Nyutro Sans Bold"/>
              </a:rPr>
              <a:t>Data Collection &amp; Preprocessing:</a:t>
            </a:r>
            <a:r>
              <a:rPr lang="en-US" sz="2800">
                <a:solidFill>
                  <a:srgbClr val="161B1C"/>
                </a:solidFill>
                <a:latin typeface="Nyutro Sans"/>
                <a:ea typeface="Nyutro Sans"/>
                <a:cs typeface="Nyutro Sans"/>
                <a:sym typeface="Nyutro Sans"/>
              </a:rPr>
              <a:t>?Public gene expression datasets (Leukemia, Colon, Prostate, etc.) are collected and normalized. Noise removal and scaling are performed to prepare the data for training.</a:t>
            </a:r>
          </a:p>
          <a:p>
            <a:pPr algn="just" marL="604521" indent="-302261" lvl="1">
              <a:lnSpc>
                <a:spcPts val="4228"/>
              </a:lnSpc>
              <a:buFont typeface="Arial"/>
              <a:buChar char="•"/>
            </a:pPr>
            <a:r>
              <a:rPr lang="en-US" b="true" sz="2800">
                <a:solidFill>
                  <a:srgbClr val="161B1C"/>
                </a:solidFill>
                <a:latin typeface="Nyutro Sans Bold"/>
                <a:ea typeface="Nyutro Sans Bold"/>
                <a:cs typeface="Nyutro Sans Bold"/>
                <a:sym typeface="Nyutro Sans Bold"/>
              </a:rPr>
              <a:t>Generative Data Augmentation:</a:t>
            </a:r>
            <a:r>
              <a:rPr lang="en-US" sz="2800">
                <a:solidFill>
                  <a:srgbClr val="161B1C"/>
                </a:solidFill>
                <a:latin typeface="Nyutro Sans"/>
                <a:ea typeface="Nyutro Sans"/>
                <a:cs typeface="Nyutro Sans"/>
                <a:sym typeface="Nyutro Sans"/>
              </a:rPr>
              <a:t>?A generative model such as GAN or VAE is used to create synthetic gene samples. This helps overcome limited dataset size and improves model generalization.</a:t>
            </a:r>
          </a:p>
          <a:p>
            <a:pPr algn="just" marL="604521" indent="-302261" lvl="1">
              <a:lnSpc>
                <a:spcPts val="4228"/>
              </a:lnSpc>
              <a:buFont typeface="Arial"/>
              <a:buChar char="•"/>
            </a:pPr>
            <a:r>
              <a:rPr lang="en-US" b="true" sz="2800">
                <a:solidFill>
                  <a:srgbClr val="161B1C"/>
                </a:solidFill>
                <a:latin typeface="Nyutro Sans Bold"/>
                <a:ea typeface="Nyutro Sans Bold"/>
                <a:cs typeface="Nyutro Sans Bold"/>
                <a:sym typeface="Nyutro Sans Bold"/>
              </a:rPr>
              <a:t>Bio-Inspired Gene Selection:</a:t>
            </a:r>
            <a:r>
              <a:rPr lang="en-US" sz="2800">
                <a:solidFill>
                  <a:srgbClr val="161B1C"/>
                </a:solidFill>
                <a:latin typeface="Nyutro Sans"/>
                <a:ea typeface="Nyutro Sans"/>
                <a:cs typeface="Nyutro Sans"/>
                <a:sym typeface="Nyutro Sans"/>
              </a:rPr>
              <a:t>?Swarm optimization algorithms like PSO, Grey Wolf Optimization, or Differential Evolution are applied to select the most relevant genes and reduce dimensionality.</a:t>
            </a:r>
          </a:p>
          <a:p>
            <a:pPr algn="just" marL="604521" indent="-302261" lvl="1">
              <a:lnSpc>
                <a:spcPts val="4228"/>
              </a:lnSpc>
              <a:buFont typeface="Arial"/>
              <a:buChar char="•"/>
            </a:pPr>
            <a:r>
              <a:rPr lang="en-US" b="true" sz="2800">
                <a:solidFill>
                  <a:srgbClr val="161B1C"/>
                </a:solidFill>
                <a:latin typeface="Nyutro Sans Bold"/>
                <a:ea typeface="Nyutro Sans Bold"/>
                <a:cs typeface="Nyutro Sans Bold"/>
                <a:sym typeface="Nyutro Sans Bold"/>
              </a:rPr>
              <a:t>Disease Classification Model:</a:t>
            </a:r>
            <a:r>
              <a:rPr lang="en-US" sz="2800">
                <a:solidFill>
                  <a:srgbClr val="161B1C"/>
                </a:solidFill>
                <a:latin typeface="Nyutro Sans"/>
                <a:ea typeface="Nyutro Sans"/>
                <a:cs typeface="Nyutro Sans"/>
                <a:sym typeface="Nyutro Sans"/>
              </a:rPr>
              <a:t> The optimized gene subset is fed into a classifier (SVM, Random Forest, or Neural Network) to predict disease classes.</a:t>
            </a:r>
          </a:p>
          <a:p>
            <a:pPr algn="just" marL="604521" indent="-302261" lvl="1">
              <a:lnSpc>
                <a:spcPts val="4228"/>
              </a:lnSpc>
              <a:buFont typeface="Arial"/>
              <a:buChar char="•"/>
            </a:pPr>
            <a:r>
              <a:rPr lang="en-US" b="true" sz="2800">
                <a:solidFill>
                  <a:srgbClr val="161B1C"/>
                </a:solidFill>
                <a:latin typeface="Nyutro Sans Bold"/>
                <a:ea typeface="Nyutro Sans Bold"/>
                <a:cs typeface="Nyutro Sans Bold"/>
                <a:sym typeface="Nyutro Sans Bold"/>
              </a:rPr>
              <a:t>Performance Evaluation: </a:t>
            </a:r>
            <a:r>
              <a:rPr lang="en-US" sz="2800">
                <a:solidFill>
                  <a:srgbClr val="161B1C"/>
                </a:solidFill>
                <a:latin typeface="Nyutro Sans"/>
                <a:ea typeface="Nyutro Sans"/>
                <a:cs typeface="Nyutro Sans"/>
                <a:sym typeface="Nyutro Sans"/>
              </a:rPr>
              <a:t>The model is evaluated using accuracy, precision, recall, F1-score, and comparison with baseline methods.</a:t>
            </a:r>
          </a:p>
        </p:txBody>
      </p:sp>
      <p:sp>
        <p:nvSpPr>
          <p:cNvPr name="TextBox 11" id="11"/>
          <p:cNvSpPr txBox="true"/>
          <p:nvPr/>
        </p:nvSpPr>
        <p:spPr>
          <a:xfrm rot="0">
            <a:off x="2641385" y="857250"/>
            <a:ext cx="13005231" cy="1543050"/>
          </a:xfrm>
          <a:prstGeom prst="rect">
            <a:avLst/>
          </a:prstGeom>
        </p:spPr>
        <p:txBody>
          <a:bodyPr anchor="t" rtlCol="false" tIns="0" lIns="0" bIns="0" rIns="0">
            <a:spAutoFit/>
          </a:bodyPr>
          <a:lstStyle/>
          <a:p>
            <a:pPr algn="ctr">
              <a:lnSpc>
                <a:spcPts val="12599"/>
              </a:lnSpc>
            </a:pPr>
            <a:r>
              <a:rPr lang="en-US" sz="9000">
                <a:solidFill>
                  <a:srgbClr val="161B1C"/>
                </a:solidFill>
                <a:latin typeface="Sego"/>
                <a:ea typeface="Sego"/>
                <a:cs typeface="Sego"/>
                <a:sym typeface="Sego"/>
              </a:rPr>
              <a:t>Proposed Methodology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5070402" y="-2930598"/>
            <a:ext cx="8147197" cy="16230600"/>
          </a:xfrm>
          <a:custGeom>
            <a:avLst/>
            <a:gdLst/>
            <a:ahLst/>
            <a:cxnLst/>
            <a:rect r="r" b="b" t="t" l="l"/>
            <a:pathLst>
              <a:path h="16230600" w="8147197">
                <a:moveTo>
                  <a:pt x="0" y="0"/>
                </a:moveTo>
                <a:lnTo>
                  <a:pt x="8147196" y="0"/>
                </a:lnTo>
                <a:lnTo>
                  <a:pt x="8147196" y="16230600"/>
                </a:lnTo>
                <a:lnTo>
                  <a:pt x="0" y="16230600"/>
                </a:lnTo>
                <a:lnTo>
                  <a:pt x="0" y="0"/>
                </a:lnTo>
                <a:close/>
              </a:path>
            </a:pathLst>
          </a:custGeom>
          <a:blipFill>
            <a:blip r:embed="rId5">
              <a:alphaModFix amt="20999"/>
            </a:blip>
            <a:stretch>
              <a:fillRect l="-17696" t="0" r="-17696" b="0"/>
            </a:stretch>
          </a:blipFill>
        </p:spPr>
      </p:sp>
      <p:sp>
        <p:nvSpPr>
          <p:cNvPr name="TextBox 11" id="11"/>
          <p:cNvSpPr txBox="true"/>
          <p:nvPr/>
        </p:nvSpPr>
        <p:spPr>
          <a:xfrm rot="0">
            <a:off x="2578290" y="3863031"/>
            <a:ext cx="13606500" cy="4080139"/>
          </a:xfrm>
          <a:prstGeom prst="rect">
            <a:avLst/>
          </a:prstGeom>
        </p:spPr>
        <p:txBody>
          <a:bodyPr anchor="t" rtlCol="false" tIns="0" lIns="0" bIns="0" rIns="0">
            <a:spAutoFit/>
          </a:bodyPr>
          <a:lstStyle/>
          <a:p>
            <a:pPr algn="l" marL="655267" indent="-327633" lvl="1">
              <a:lnSpc>
                <a:spcPts val="4582"/>
              </a:lnSpc>
              <a:buFont typeface="Arial"/>
              <a:buChar char="•"/>
            </a:pPr>
            <a:r>
              <a:rPr lang="en-US" b="true" sz="3035">
                <a:solidFill>
                  <a:srgbClr val="161B1C"/>
                </a:solidFill>
                <a:latin typeface="Nyutro Sans Bold"/>
                <a:ea typeface="Nyutro Sans Bold"/>
                <a:cs typeface="Nyutro Sans Bold"/>
                <a:sym typeface="Nyutro Sans Bold"/>
              </a:rPr>
              <a:t>Gene</a:t>
            </a:r>
            <a:r>
              <a:rPr lang="en-US" b="true" sz="3035">
                <a:solidFill>
                  <a:srgbClr val="161B1C"/>
                </a:solidFill>
                <a:latin typeface="Nyutro Sans Bold"/>
                <a:ea typeface="Nyutro Sans Bold"/>
                <a:cs typeface="Nyutro Sans Bold"/>
                <a:sym typeface="Nyutro Sans Bold"/>
              </a:rPr>
              <a:t>rative Deep Learning: </a:t>
            </a:r>
          </a:p>
          <a:p>
            <a:pPr algn="l">
              <a:lnSpc>
                <a:spcPts val="4582"/>
              </a:lnSpc>
            </a:pPr>
            <a:r>
              <a:rPr lang="en-US" sz="3035">
                <a:solidFill>
                  <a:srgbClr val="161B1C"/>
                </a:solidFill>
                <a:latin typeface="Nyutro Sans"/>
                <a:ea typeface="Nyutro Sans"/>
                <a:cs typeface="Nyutro Sans"/>
                <a:sym typeface="Nyutro Sans"/>
              </a:rPr>
              <a:t>Leveraging Variational Autoencoders (VAEs) and Generative Adversarial Networks (GANs) for data augmentation.</a:t>
            </a:r>
          </a:p>
          <a:p>
            <a:pPr algn="l">
              <a:lnSpc>
                <a:spcPts val="4582"/>
              </a:lnSpc>
            </a:pPr>
          </a:p>
          <a:p>
            <a:pPr algn="l" marL="655267" indent="-327633" lvl="1">
              <a:lnSpc>
                <a:spcPts val="4582"/>
              </a:lnSpc>
              <a:buFont typeface="Arial"/>
              <a:buChar char="•"/>
            </a:pPr>
            <a:r>
              <a:rPr lang="en-US" b="true" sz="3035">
                <a:solidFill>
                  <a:srgbClr val="161B1C"/>
                </a:solidFill>
                <a:latin typeface="Nyutro Sans Bold"/>
                <a:ea typeface="Nyutro Sans Bold"/>
                <a:cs typeface="Nyutro Sans Bold"/>
                <a:sym typeface="Nyutro Sans Bold"/>
              </a:rPr>
              <a:t>Bio-Inspired Swarm Optimization:</a:t>
            </a:r>
          </a:p>
          <a:p>
            <a:pPr algn="l">
              <a:lnSpc>
                <a:spcPts val="4582"/>
              </a:lnSpc>
            </a:pPr>
            <a:r>
              <a:rPr lang="en-US" sz="3035">
                <a:solidFill>
                  <a:srgbClr val="161B1C"/>
                </a:solidFill>
                <a:latin typeface="Nyutro Sans"/>
                <a:ea typeface="Nyutro Sans"/>
                <a:cs typeface="Nyutro Sans"/>
                <a:sym typeface="Nyutro Sans"/>
              </a:rPr>
              <a:t>Utilizing Particle Swarm Optimization (PSO), Grey Wolf Optimization (GWO)</a:t>
            </a:r>
          </a:p>
          <a:p>
            <a:pPr algn="l">
              <a:lnSpc>
                <a:spcPts val="4582"/>
              </a:lnSpc>
            </a:pPr>
            <a:r>
              <a:rPr lang="en-US" sz="3035">
                <a:solidFill>
                  <a:srgbClr val="161B1C"/>
                </a:solidFill>
                <a:latin typeface="Nyutro Sans"/>
                <a:ea typeface="Nyutro Sans"/>
                <a:cs typeface="Nyutro Sans"/>
                <a:sym typeface="Nyutro Sans"/>
              </a:rPr>
              <a:t>and Differential Evolution (DE) for intelligent feature selection.</a:t>
            </a:r>
          </a:p>
        </p:txBody>
      </p:sp>
      <p:sp>
        <p:nvSpPr>
          <p:cNvPr name="TextBox 12" id="12"/>
          <p:cNvSpPr txBox="true"/>
          <p:nvPr/>
        </p:nvSpPr>
        <p:spPr>
          <a:xfrm rot="0">
            <a:off x="2307110" y="1571455"/>
            <a:ext cx="14148861" cy="1266704"/>
          </a:xfrm>
          <a:prstGeom prst="rect">
            <a:avLst/>
          </a:prstGeom>
        </p:spPr>
        <p:txBody>
          <a:bodyPr anchor="t" rtlCol="false" tIns="0" lIns="0" bIns="0" rIns="0">
            <a:spAutoFit/>
          </a:bodyPr>
          <a:lstStyle/>
          <a:p>
            <a:pPr algn="ctr">
              <a:lnSpc>
                <a:spcPts val="10236"/>
              </a:lnSpc>
            </a:pPr>
            <a:r>
              <a:rPr lang="en-US" sz="7311">
                <a:solidFill>
                  <a:srgbClr val="161B1C"/>
                </a:solidFill>
                <a:latin typeface="Sego"/>
                <a:ea typeface="Sego"/>
                <a:cs typeface="Sego"/>
                <a:sym typeface="Sego"/>
              </a:rPr>
              <a:t>Hybrid Solution: Novel Approach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28700" y="1028700"/>
            <a:ext cx="16196396" cy="8229600"/>
          </a:xfrm>
          <a:custGeom>
            <a:avLst/>
            <a:gdLst/>
            <a:ahLst/>
            <a:cxnLst/>
            <a:rect r="r" b="b" t="t" l="l"/>
            <a:pathLst>
              <a:path h="8229600" w="16196396">
                <a:moveTo>
                  <a:pt x="0" y="0"/>
                </a:moveTo>
                <a:lnTo>
                  <a:pt x="16196396" y="0"/>
                </a:lnTo>
                <a:lnTo>
                  <a:pt x="16196396" y="8229600"/>
                </a:lnTo>
                <a:lnTo>
                  <a:pt x="0" y="8229600"/>
                </a:lnTo>
                <a:lnTo>
                  <a:pt x="0" y="0"/>
                </a:lnTo>
                <a:close/>
              </a:path>
            </a:pathLst>
          </a:custGeom>
          <a:blipFill>
            <a:blip r:embed="rId5">
              <a:alphaModFix amt="25000"/>
            </a:blip>
            <a:stretch>
              <a:fillRect l="0" t="-44909" r="0" b="-44909"/>
            </a:stretch>
          </a:blipFill>
        </p:spPr>
      </p:sp>
      <p:sp>
        <p:nvSpPr>
          <p:cNvPr name="TextBox 11" id="11"/>
          <p:cNvSpPr txBox="true"/>
          <p:nvPr/>
        </p:nvSpPr>
        <p:spPr>
          <a:xfrm rot="0">
            <a:off x="1441144" y="5806852"/>
            <a:ext cx="15783952" cy="2983103"/>
          </a:xfrm>
          <a:prstGeom prst="rect">
            <a:avLst/>
          </a:prstGeom>
        </p:spPr>
        <p:txBody>
          <a:bodyPr anchor="t" rtlCol="false" tIns="0" lIns="0" bIns="0" rIns="0">
            <a:spAutoFit/>
          </a:bodyPr>
          <a:lstStyle/>
          <a:p>
            <a:pPr algn="l" marL="669291" indent="-334646" lvl="1">
              <a:lnSpc>
                <a:spcPts val="4681"/>
              </a:lnSpc>
              <a:buFont typeface="Arial"/>
              <a:buChar char="•"/>
            </a:pPr>
            <a:r>
              <a:rPr lang="en-US" b="true" sz="3100">
                <a:solidFill>
                  <a:srgbClr val="161B1C"/>
                </a:solidFill>
                <a:latin typeface="Nyutro Sans Bold"/>
                <a:ea typeface="Nyutro Sans Bold"/>
                <a:cs typeface="Nyutro Sans Bold"/>
                <a:sym typeface="Nyutro Sans Bold"/>
              </a:rPr>
              <a:t>Generative Adversarial Networks (GANs):</a:t>
            </a:r>
          </a:p>
          <a:p>
            <a:pPr algn="l">
              <a:lnSpc>
                <a:spcPts val="4681"/>
              </a:lnSpc>
            </a:pPr>
            <a:r>
              <a:rPr lang="en-US" sz="3100" b="true">
                <a:solidFill>
                  <a:srgbClr val="161B1C"/>
                </a:solidFill>
                <a:latin typeface="Nyutro Sans Bold"/>
                <a:ea typeface="Nyutro Sans Bold"/>
                <a:cs typeface="Nyutro Sans Bold"/>
                <a:sym typeface="Nyutro Sans Bold"/>
              </a:rPr>
              <a:t>Generator:</a:t>
            </a:r>
            <a:r>
              <a:rPr lang="en-US" sz="3100">
                <a:solidFill>
                  <a:srgbClr val="161B1C"/>
                </a:solidFill>
                <a:latin typeface="Nyutro Sans"/>
                <a:ea typeface="Nyutro Sans"/>
                <a:cs typeface="Nyutro Sans"/>
                <a:sym typeface="Nyutro Sans"/>
              </a:rPr>
              <a:t> Creates synthetic gene samples.</a:t>
            </a:r>
          </a:p>
          <a:p>
            <a:pPr algn="l">
              <a:lnSpc>
                <a:spcPts val="4681"/>
              </a:lnSpc>
            </a:pPr>
            <a:r>
              <a:rPr lang="en-US" sz="3100" b="true">
                <a:solidFill>
                  <a:srgbClr val="161B1C"/>
                </a:solidFill>
                <a:latin typeface="Nyutro Sans Bold"/>
                <a:ea typeface="Nyutro Sans Bold"/>
                <a:cs typeface="Nyutro Sans Bold"/>
                <a:sym typeface="Nyutro Sans Bold"/>
              </a:rPr>
              <a:t>Discriminator:</a:t>
            </a:r>
            <a:r>
              <a:rPr lang="en-US" sz="3100">
                <a:solidFill>
                  <a:srgbClr val="161B1C"/>
                </a:solidFill>
                <a:latin typeface="Nyutro Sans"/>
                <a:ea typeface="Nyutro Sans"/>
                <a:cs typeface="Nyutro Sans"/>
                <a:sym typeface="Nyutro Sans"/>
              </a:rPr>
              <a:t> Distinguishes between real and synthetic samples.  </a:t>
            </a:r>
          </a:p>
          <a:p>
            <a:pPr algn="l">
              <a:lnSpc>
                <a:spcPts val="4681"/>
              </a:lnSpc>
            </a:pPr>
            <a:r>
              <a:rPr lang="en-US" b="true" sz="3100">
                <a:solidFill>
                  <a:srgbClr val="161B1C"/>
                </a:solidFill>
                <a:latin typeface="Nyutro Sans Bold"/>
                <a:ea typeface="Nyutro Sans Bold"/>
                <a:cs typeface="Nyutro Sans Bold"/>
                <a:sym typeface="Nyutro Sans Bold"/>
              </a:rPr>
              <a:t>Adversarial Training:</a:t>
            </a:r>
            <a:r>
              <a:rPr lang="en-US" sz="3100">
                <a:solidFill>
                  <a:srgbClr val="161B1C"/>
                </a:solidFill>
                <a:latin typeface="Nyutro Sans"/>
                <a:ea typeface="Nyutro Sans"/>
                <a:cs typeface="Nyutro Sans"/>
                <a:sym typeface="Nyutro Sans"/>
              </a:rPr>
              <a:t> Generator improves to fool the discriminator, discriminator improves to catch the generator, leading to highly realistic synthetic data.</a:t>
            </a:r>
          </a:p>
        </p:txBody>
      </p:sp>
      <p:sp>
        <p:nvSpPr>
          <p:cNvPr name="TextBox 12" id="12"/>
          <p:cNvSpPr txBox="true"/>
          <p:nvPr/>
        </p:nvSpPr>
        <p:spPr>
          <a:xfrm rot="0">
            <a:off x="1441144" y="2685760"/>
            <a:ext cx="15720660" cy="2983103"/>
          </a:xfrm>
          <a:prstGeom prst="rect">
            <a:avLst/>
          </a:prstGeom>
        </p:spPr>
        <p:txBody>
          <a:bodyPr anchor="t" rtlCol="false" tIns="0" lIns="0" bIns="0" rIns="0">
            <a:spAutoFit/>
          </a:bodyPr>
          <a:lstStyle/>
          <a:p>
            <a:pPr algn="l" marL="669291" indent="-334646" lvl="1">
              <a:lnSpc>
                <a:spcPts val="4681"/>
              </a:lnSpc>
              <a:buFont typeface="Arial"/>
              <a:buChar char="•"/>
            </a:pPr>
            <a:r>
              <a:rPr lang="en-US" b="true" sz="3100">
                <a:solidFill>
                  <a:srgbClr val="161B1C"/>
                </a:solidFill>
                <a:latin typeface="Nyutro Sans Bold"/>
                <a:ea typeface="Nyutro Sans Bold"/>
                <a:cs typeface="Nyutro Sans Bold"/>
                <a:sym typeface="Nyutro Sans Bold"/>
              </a:rPr>
              <a:t>Variational Autoencoders (VAEs):</a:t>
            </a:r>
          </a:p>
          <a:p>
            <a:pPr algn="l">
              <a:lnSpc>
                <a:spcPts val="4681"/>
              </a:lnSpc>
            </a:pPr>
            <a:r>
              <a:rPr lang="en-US" sz="3100" b="true">
                <a:solidFill>
                  <a:srgbClr val="161B1C"/>
                </a:solidFill>
                <a:latin typeface="Nyutro Sans Bold"/>
                <a:ea typeface="Nyutro Sans Bold"/>
                <a:cs typeface="Nyutro Sans Bold"/>
                <a:sym typeface="Nyutro Sans Bold"/>
              </a:rPr>
              <a:t>Compress:</a:t>
            </a:r>
            <a:r>
              <a:rPr lang="en-US" sz="3100">
                <a:solidFill>
                  <a:srgbClr val="161B1C"/>
                </a:solidFill>
                <a:latin typeface="Nyutro Sans"/>
                <a:ea typeface="Nyutro Sans"/>
                <a:cs typeface="Nyutro Sans"/>
                <a:sym typeface="Nyutro Sans"/>
              </a:rPr>
              <a:t> Encode high-dimensional gene data into a lower-dimensional latent space.</a:t>
            </a:r>
          </a:p>
          <a:p>
            <a:pPr algn="l">
              <a:lnSpc>
                <a:spcPts val="4681"/>
              </a:lnSpc>
            </a:pPr>
            <a:r>
              <a:rPr lang="en-US" sz="3100" b="true">
                <a:solidFill>
                  <a:srgbClr val="161B1C"/>
                </a:solidFill>
                <a:latin typeface="Nyutro Sans Bold"/>
                <a:ea typeface="Nyutro Sans Bold"/>
                <a:cs typeface="Nyutro Sans Bold"/>
                <a:sym typeface="Nyutro Sans Bold"/>
              </a:rPr>
              <a:t>Learn Distribution:</a:t>
            </a:r>
            <a:r>
              <a:rPr lang="en-US" sz="3100">
                <a:solidFill>
                  <a:srgbClr val="161B1C"/>
                </a:solidFill>
                <a:latin typeface="Nyutro Sans"/>
                <a:ea typeface="Nyutro Sans"/>
                <a:cs typeface="Nyutro Sans"/>
                <a:sym typeface="Nyutro Sans"/>
              </a:rPr>
              <a:t> Model the probability distribution within this latent space.</a:t>
            </a:r>
          </a:p>
          <a:p>
            <a:pPr algn="l">
              <a:lnSpc>
                <a:spcPts val="4681"/>
              </a:lnSpc>
            </a:pPr>
            <a:r>
              <a:rPr lang="en-US" b="true" sz="3100">
                <a:solidFill>
                  <a:srgbClr val="161B1C"/>
                </a:solidFill>
                <a:latin typeface="Nyutro Sans Bold"/>
                <a:ea typeface="Nyutro Sans Bold"/>
                <a:cs typeface="Nyutro Sans Bold"/>
                <a:sym typeface="Nyutro Sans Bold"/>
              </a:rPr>
              <a:t>Generate:</a:t>
            </a:r>
            <a:r>
              <a:rPr lang="en-US" sz="3100">
                <a:solidFill>
                  <a:srgbClr val="161B1C"/>
                </a:solidFill>
                <a:latin typeface="Nyutro Sans"/>
                <a:ea typeface="Nyutro Sans"/>
                <a:cs typeface="Nyutro Sans"/>
                <a:sym typeface="Nyutro Sans"/>
              </a:rPr>
              <a:t> Sample from the learned distribution to create synthetic, yet realistic, gene expression samples.</a:t>
            </a:r>
          </a:p>
        </p:txBody>
      </p:sp>
      <p:sp>
        <p:nvSpPr>
          <p:cNvPr name="TextBox 13" id="13"/>
          <p:cNvSpPr txBox="true"/>
          <p:nvPr/>
        </p:nvSpPr>
        <p:spPr>
          <a:xfrm rot="0">
            <a:off x="809918" y="1511513"/>
            <a:ext cx="16668164" cy="1095784"/>
          </a:xfrm>
          <a:prstGeom prst="rect">
            <a:avLst/>
          </a:prstGeom>
        </p:spPr>
        <p:txBody>
          <a:bodyPr anchor="t" rtlCol="false" tIns="0" lIns="0" bIns="0" rIns="0">
            <a:spAutoFit/>
          </a:bodyPr>
          <a:lstStyle/>
          <a:p>
            <a:pPr algn="ctr">
              <a:lnSpc>
                <a:spcPts val="8841"/>
              </a:lnSpc>
            </a:pPr>
            <a:r>
              <a:rPr lang="en-US" sz="6315">
                <a:solidFill>
                  <a:srgbClr val="161B1C"/>
                </a:solidFill>
                <a:latin typeface="Sego"/>
                <a:ea typeface="Sego"/>
                <a:cs typeface="Sego"/>
                <a:sym typeface="Sego"/>
              </a:rPr>
              <a:t>Generative Models: Tackling Small Datasets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28700" y="1028700"/>
            <a:ext cx="16230600" cy="8229600"/>
          </a:xfrm>
          <a:custGeom>
            <a:avLst/>
            <a:gdLst/>
            <a:ahLst/>
            <a:cxnLst/>
            <a:rect r="r" b="b" t="t" l="l"/>
            <a:pathLst>
              <a:path h="8229600" w="16230600">
                <a:moveTo>
                  <a:pt x="0" y="0"/>
                </a:moveTo>
                <a:lnTo>
                  <a:pt x="16230600" y="0"/>
                </a:lnTo>
                <a:lnTo>
                  <a:pt x="16230600" y="8229600"/>
                </a:lnTo>
                <a:lnTo>
                  <a:pt x="0" y="8229600"/>
                </a:lnTo>
                <a:lnTo>
                  <a:pt x="0" y="0"/>
                </a:lnTo>
                <a:close/>
              </a:path>
            </a:pathLst>
          </a:custGeom>
          <a:blipFill>
            <a:blip r:embed="rId5"/>
            <a:stretch>
              <a:fillRect l="0" t="-7628" r="-1062" b="-4986"/>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199178" y="2126081"/>
            <a:ext cx="5227183" cy="4079322"/>
          </a:xfrm>
          <a:custGeom>
            <a:avLst/>
            <a:gdLst/>
            <a:ahLst/>
            <a:cxnLst/>
            <a:rect r="r" b="b" t="t" l="l"/>
            <a:pathLst>
              <a:path h="4079322" w="5227183">
                <a:moveTo>
                  <a:pt x="0" y="0"/>
                </a:moveTo>
                <a:lnTo>
                  <a:pt x="5227183" y="0"/>
                </a:lnTo>
                <a:lnTo>
                  <a:pt x="5227183" y="4079321"/>
                </a:lnTo>
                <a:lnTo>
                  <a:pt x="0" y="4079321"/>
                </a:lnTo>
                <a:lnTo>
                  <a:pt x="0" y="0"/>
                </a:lnTo>
                <a:close/>
              </a:path>
            </a:pathLst>
          </a:custGeom>
          <a:blipFill>
            <a:blip r:embed="rId5"/>
            <a:stretch>
              <a:fillRect l="0" t="0" r="0" b="0"/>
            </a:stretch>
          </a:blipFill>
        </p:spPr>
      </p:sp>
      <p:sp>
        <p:nvSpPr>
          <p:cNvPr name="Freeform 11" id="11"/>
          <p:cNvSpPr/>
          <p:nvPr/>
        </p:nvSpPr>
        <p:spPr>
          <a:xfrm flipH="false" flipV="false" rot="0">
            <a:off x="6588115" y="4686394"/>
            <a:ext cx="5886688" cy="4415016"/>
          </a:xfrm>
          <a:custGeom>
            <a:avLst/>
            <a:gdLst/>
            <a:ahLst/>
            <a:cxnLst/>
            <a:rect r="r" b="b" t="t" l="l"/>
            <a:pathLst>
              <a:path h="4415016" w="5886688">
                <a:moveTo>
                  <a:pt x="0" y="0"/>
                </a:moveTo>
                <a:lnTo>
                  <a:pt x="5886688" y="0"/>
                </a:lnTo>
                <a:lnTo>
                  <a:pt x="5886688" y="4415016"/>
                </a:lnTo>
                <a:lnTo>
                  <a:pt x="0" y="4415016"/>
                </a:lnTo>
                <a:lnTo>
                  <a:pt x="0" y="0"/>
                </a:lnTo>
                <a:close/>
              </a:path>
            </a:pathLst>
          </a:custGeom>
          <a:blipFill>
            <a:blip r:embed="rId6"/>
            <a:stretch>
              <a:fillRect l="0" t="0" r="0" b="0"/>
            </a:stretch>
          </a:blipFill>
        </p:spPr>
      </p:sp>
      <p:sp>
        <p:nvSpPr>
          <p:cNvPr name="Freeform 12" id="12"/>
          <p:cNvSpPr/>
          <p:nvPr/>
        </p:nvSpPr>
        <p:spPr>
          <a:xfrm flipH="false" flipV="false" rot="0">
            <a:off x="9745394" y="1811062"/>
            <a:ext cx="7105466" cy="2616540"/>
          </a:xfrm>
          <a:custGeom>
            <a:avLst/>
            <a:gdLst/>
            <a:ahLst/>
            <a:cxnLst/>
            <a:rect r="r" b="b" t="t" l="l"/>
            <a:pathLst>
              <a:path h="2616540" w="7105466">
                <a:moveTo>
                  <a:pt x="0" y="0"/>
                </a:moveTo>
                <a:lnTo>
                  <a:pt x="7105466" y="0"/>
                </a:lnTo>
                <a:lnTo>
                  <a:pt x="7105466" y="2616540"/>
                </a:lnTo>
                <a:lnTo>
                  <a:pt x="0" y="2616540"/>
                </a:lnTo>
                <a:lnTo>
                  <a:pt x="0" y="0"/>
                </a:lnTo>
                <a:close/>
              </a:path>
            </a:pathLst>
          </a:custGeom>
          <a:blipFill>
            <a:blip r:embed="rId7"/>
            <a:stretch>
              <a:fillRect l="0" t="0" r="0" b="0"/>
            </a:stretch>
          </a:blipFill>
        </p:spPr>
      </p:sp>
      <p:sp>
        <p:nvSpPr>
          <p:cNvPr name="TextBox 13" id="13"/>
          <p:cNvSpPr txBox="true"/>
          <p:nvPr/>
        </p:nvSpPr>
        <p:spPr>
          <a:xfrm rot="0">
            <a:off x="4118349" y="866775"/>
            <a:ext cx="6568227" cy="1381030"/>
          </a:xfrm>
          <a:prstGeom prst="rect">
            <a:avLst/>
          </a:prstGeom>
        </p:spPr>
        <p:txBody>
          <a:bodyPr anchor="t" rtlCol="false" tIns="0" lIns="0" bIns="0" rIns="0">
            <a:spAutoFit/>
          </a:bodyPr>
          <a:lstStyle/>
          <a:p>
            <a:pPr algn="ctr">
              <a:lnSpc>
                <a:spcPts val="11199"/>
              </a:lnSpc>
            </a:pPr>
            <a:r>
              <a:rPr lang="en-US" sz="7999">
                <a:solidFill>
                  <a:srgbClr val="161B1C"/>
                </a:solidFill>
                <a:latin typeface="Sego"/>
                <a:ea typeface="Sego"/>
                <a:cs typeface="Sego"/>
                <a:sym typeface="Sego"/>
              </a:rPr>
              <a:t>Results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5271512" y="2735633"/>
            <a:ext cx="7594255" cy="6269178"/>
          </a:xfrm>
          <a:custGeom>
            <a:avLst/>
            <a:gdLst/>
            <a:ahLst/>
            <a:cxnLst/>
            <a:rect r="r" b="b" t="t" l="l"/>
            <a:pathLst>
              <a:path h="6269178" w="7594255">
                <a:moveTo>
                  <a:pt x="0" y="0"/>
                </a:moveTo>
                <a:lnTo>
                  <a:pt x="7594255" y="0"/>
                </a:lnTo>
                <a:lnTo>
                  <a:pt x="7594255" y="6269178"/>
                </a:lnTo>
                <a:lnTo>
                  <a:pt x="0" y="6269178"/>
                </a:lnTo>
                <a:lnTo>
                  <a:pt x="0" y="0"/>
                </a:lnTo>
                <a:close/>
              </a:path>
            </a:pathLst>
          </a:custGeom>
          <a:blipFill>
            <a:blip r:embed="rId5"/>
            <a:stretch>
              <a:fillRect l="0" t="0" r="0" b="0"/>
            </a:stretch>
          </a:blipFill>
        </p:spPr>
      </p:sp>
      <p:sp>
        <p:nvSpPr>
          <p:cNvPr name="TextBox 11" id="11"/>
          <p:cNvSpPr txBox="true"/>
          <p:nvPr/>
        </p:nvSpPr>
        <p:spPr>
          <a:xfrm rot="0">
            <a:off x="5859886" y="1354603"/>
            <a:ext cx="6568227" cy="1381030"/>
          </a:xfrm>
          <a:prstGeom prst="rect">
            <a:avLst/>
          </a:prstGeom>
        </p:spPr>
        <p:txBody>
          <a:bodyPr anchor="t" rtlCol="false" tIns="0" lIns="0" bIns="0" rIns="0">
            <a:spAutoFit/>
          </a:bodyPr>
          <a:lstStyle/>
          <a:p>
            <a:pPr algn="ctr">
              <a:lnSpc>
                <a:spcPts val="11199"/>
              </a:lnSpc>
            </a:pPr>
            <a:r>
              <a:rPr lang="en-US" sz="7999">
                <a:solidFill>
                  <a:srgbClr val="161B1C"/>
                </a:solidFill>
                <a:latin typeface="Sego"/>
                <a:ea typeface="Sego"/>
                <a:cs typeface="Sego"/>
                <a:sym typeface="Sego"/>
              </a:rPr>
              <a:t>Outcomes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true" flipV="false" rot="5400000">
            <a:off x="-3306107" y="5694113"/>
            <a:ext cx="7603204" cy="1891297"/>
          </a:xfrm>
          <a:custGeom>
            <a:avLst/>
            <a:gdLst/>
            <a:ahLst/>
            <a:cxnLst/>
            <a:rect r="r" b="b" t="t" l="l"/>
            <a:pathLst>
              <a:path h="1891297" w="7603204">
                <a:moveTo>
                  <a:pt x="7603204" y="0"/>
                </a:moveTo>
                <a:lnTo>
                  <a:pt x="0" y="0"/>
                </a:lnTo>
                <a:lnTo>
                  <a:pt x="0" y="1891297"/>
                </a:lnTo>
                <a:lnTo>
                  <a:pt x="7603204" y="1891297"/>
                </a:lnTo>
                <a:lnTo>
                  <a:pt x="7603204" y="0"/>
                </a:lnTo>
                <a:close/>
              </a:path>
            </a:pathLst>
          </a:custGeom>
          <a:blipFill>
            <a:blip r:embed="rId3"/>
            <a:stretch>
              <a:fillRect l="0" t="0" r="0" b="0"/>
            </a:stretch>
          </a:blipFill>
        </p:spPr>
      </p:sp>
      <p:sp>
        <p:nvSpPr>
          <p:cNvPr name="Freeform 4" id="4"/>
          <p:cNvSpPr/>
          <p:nvPr/>
        </p:nvSpPr>
        <p:spPr>
          <a:xfrm flipH="false" flipV="false" rot="0">
            <a:off x="-450153" y="-434233"/>
            <a:ext cx="4262923" cy="5120628"/>
          </a:xfrm>
          <a:custGeom>
            <a:avLst/>
            <a:gdLst/>
            <a:ahLst/>
            <a:cxnLst/>
            <a:rect r="r" b="b" t="t" l="l"/>
            <a:pathLst>
              <a:path h="5120628" w="4262923">
                <a:moveTo>
                  <a:pt x="0" y="0"/>
                </a:moveTo>
                <a:lnTo>
                  <a:pt x="4262923" y="0"/>
                </a:lnTo>
                <a:lnTo>
                  <a:pt x="4262923" y="5120627"/>
                </a:lnTo>
                <a:lnTo>
                  <a:pt x="0" y="5120627"/>
                </a:lnTo>
                <a:lnTo>
                  <a:pt x="0" y="0"/>
                </a:lnTo>
                <a:close/>
              </a:path>
            </a:pathLst>
          </a:custGeom>
          <a:blipFill>
            <a:blip r:embed="rId4"/>
            <a:stretch>
              <a:fillRect l="0" t="0" r="0" b="0"/>
            </a:stretch>
          </a:blipFill>
        </p:spPr>
      </p:sp>
      <p:sp>
        <p:nvSpPr>
          <p:cNvPr name="Freeform 5" id="5"/>
          <p:cNvSpPr/>
          <p:nvPr/>
        </p:nvSpPr>
        <p:spPr>
          <a:xfrm flipH="false" flipV="true" rot="5400000">
            <a:off x="13994907" y="2627353"/>
            <a:ext cx="7603204" cy="1891297"/>
          </a:xfrm>
          <a:custGeom>
            <a:avLst/>
            <a:gdLst/>
            <a:ahLst/>
            <a:cxnLst/>
            <a:rect r="r" b="b" t="t" l="l"/>
            <a:pathLst>
              <a:path h="1891297" w="7603204">
                <a:moveTo>
                  <a:pt x="0" y="1891297"/>
                </a:moveTo>
                <a:lnTo>
                  <a:pt x="7603203" y="1891297"/>
                </a:lnTo>
                <a:lnTo>
                  <a:pt x="7603203" y="0"/>
                </a:lnTo>
                <a:lnTo>
                  <a:pt x="0" y="0"/>
                </a:lnTo>
                <a:lnTo>
                  <a:pt x="0" y="1891297"/>
                </a:lnTo>
                <a:close/>
              </a:path>
            </a:pathLst>
          </a:custGeom>
          <a:blipFill>
            <a:blip r:embed="rId3"/>
            <a:stretch>
              <a:fillRect l="0" t="0" r="0" b="0"/>
            </a:stretch>
          </a:blipFill>
        </p:spPr>
      </p:sp>
      <p:sp>
        <p:nvSpPr>
          <p:cNvPr name="Freeform 6" id="6"/>
          <p:cNvSpPr/>
          <p:nvPr/>
        </p:nvSpPr>
        <p:spPr>
          <a:xfrm flipH="true" flipV="true" rot="0">
            <a:off x="14324509" y="5585433"/>
            <a:ext cx="4262923" cy="5120628"/>
          </a:xfrm>
          <a:custGeom>
            <a:avLst/>
            <a:gdLst/>
            <a:ahLst/>
            <a:cxnLst/>
            <a:rect r="r" b="b" t="t" l="l"/>
            <a:pathLst>
              <a:path h="5120628" w="4262923">
                <a:moveTo>
                  <a:pt x="4262923" y="5120628"/>
                </a:moveTo>
                <a:lnTo>
                  <a:pt x="0" y="5120628"/>
                </a:lnTo>
                <a:lnTo>
                  <a:pt x="0" y="0"/>
                </a:lnTo>
                <a:lnTo>
                  <a:pt x="4262923" y="0"/>
                </a:lnTo>
                <a:lnTo>
                  <a:pt x="4262923" y="5120628"/>
                </a:lnTo>
                <a:close/>
              </a:path>
            </a:pathLst>
          </a:custGeom>
          <a:blipFill>
            <a:blip r:embed="rId4"/>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441144" y="2384713"/>
            <a:ext cx="15169552" cy="7168658"/>
          </a:xfrm>
          <a:prstGeom prst="rect">
            <a:avLst/>
          </a:prstGeom>
        </p:spPr>
        <p:txBody>
          <a:bodyPr anchor="t" rtlCol="false" tIns="0" lIns="0" bIns="0" rIns="0">
            <a:spAutoFit/>
          </a:bodyPr>
          <a:lstStyle/>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Ch</a:t>
            </a:r>
            <a:r>
              <a:rPr lang="en-US" sz="2512">
                <a:solidFill>
                  <a:srgbClr val="161B1C"/>
                </a:solidFill>
                <a:latin typeface="Nyutro Sans"/>
                <a:ea typeface="Nyutro Sans"/>
                <a:cs typeface="Nyutro Sans"/>
                <a:sym typeface="Nyutro Sans"/>
              </a:rPr>
              <a:t>at GPT AI</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Bohrium AI</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Xue, B., Zhang, M., Browne, W. N., &amp; Yao, X. (2016) – A Survey on Evolutionary Computation Approaches to Feature Selection, IEEE Transactions on Evolutionary Computation.</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Chuang, L.-Y., Yang, C.-H., &amp; Li, J.-C. (2011) – Chaotic Particle Swarm Optimization for Gene Selection and Classification, Expert Systems with Applications.</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Goodfellow, I., Pouget-Abadie, J., Mirza, M., et al. (2014) – Generative Adversarial Networks, NeurIPS Conference Paper.</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Holland, J. H. (1992) – Adaptation in Natural and Artificial Systems, MIT Press.?(Classic reference for evolutionary optimization methods used in feature selection.)</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Saeys, Y., Inza, I., &amp; Larrañaga, P. (2007) – A Review of Feature Selection Techniques in Bioinformatics, Bioinformatics Journal.</a:t>
            </a:r>
          </a:p>
          <a:p>
            <a:pPr algn="just" marL="542447" indent="-271224" lvl="1">
              <a:lnSpc>
                <a:spcPts val="3793"/>
              </a:lnSpc>
              <a:buFont typeface="Arial"/>
              <a:buChar char="•"/>
            </a:pPr>
            <a:r>
              <a:rPr lang="en-US" sz="2512">
                <a:solidFill>
                  <a:srgbClr val="161B1C"/>
                </a:solidFill>
                <a:latin typeface="Nyutro Sans"/>
                <a:ea typeface="Nyutro Sans"/>
                <a:cs typeface="Nyutro Sans"/>
                <a:sym typeface="Nyutro Sans"/>
              </a:rPr>
              <a:t>Kourou, K., Exarchos, T. P., Exarchos, K. P., et al. (2015) – Machine Learning Applications in Cancer Prognosis and Prediction, Computational and Structural Biotechnology Journal</a:t>
            </a:r>
          </a:p>
          <a:p>
            <a:pPr algn="just">
              <a:lnSpc>
                <a:spcPts val="3793"/>
              </a:lnSpc>
            </a:pPr>
          </a:p>
        </p:txBody>
      </p:sp>
      <p:sp>
        <p:nvSpPr>
          <p:cNvPr name="TextBox 11" id="11"/>
          <p:cNvSpPr txBox="true"/>
          <p:nvPr/>
        </p:nvSpPr>
        <p:spPr>
          <a:xfrm rot="0">
            <a:off x="4858809" y="1051164"/>
            <a:ext cx="8570381" cy="1457374"/>
          </a:xfrm>
          <a:prstGeom prst="rect">
            <a:avLst/>
          </a:prstGeom>
        </p:spPr>
        <p:txBody>
          <a:bodyPr anchor="t" rtlCol="false" tIns="0" lIns="0" bIns="0" rIns="0">
            <a:spAutoFit/>
          </a:bodyPr>
          <a:lstStyle/>
          <a:p>
            <a:pPr algn="ctr">
              <a:lnSpc>
                <a:spcPts val="11725"/>
              </a:lnSpc>
            </a:pPr>
            <a:r>
              <a:rPr lang="en-US" sz="8375">
                <a:solidFill>
                  <a:srgbClr val="161B1C"/>
                </a:solidFill>
                <a:latin typeface="Sego"/>
                <a:ea typeface="Sego"/>
                <a:cs typeface="Sego"/>
                <a:sym typeface="Sego"/>
              </a:rPr>
              <a:t>References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true" rot="0">
            <a:off x="-328064" y="5377270"/>
            <a:ext cx="4262923" cy="5120628"/>
          </a:xfrm>
          <a:custGeom>
            <a:avLst/>
            <a:gdLst/>
            <a:ahLst/>
            <a:cxnLst/>
            <a:rect r="r" b="b" t="t" l="l"/>
            <a:pathLst>
              <a:path h="5120628" w="4262923">
                <a:moveTo>
                  <a:pt x="0" y="5120628"/>
                </a:moveTo>
                <a:lnTo>
                  <a:pt x="4262923" y="5120628"/>
                </a:lnTo>
                <a:lnTo>
                  <a:pt x="4262923" y="0"/>
                </a:lnTo>
                <a:lnTo>
                  <a:pt x="0" y="0"/>
                </a:lnTo>
                <a:lnTo>
                  <a:pt x="0" y="5120628"/>
                </a:lnTo>
                <a:close/>
              </a:path>
            </a:pathLst>
          </a:custGeom>
          <a:blipFill>
            <a:blip r:embed="rId3"/>
            <a:stretch>
              <a:fillRect l="0" t="0" r="0" b="0"/>
            </a:stretch>
          </a:blipFill>
        </p:spPr>
      </p:sp>
      <p:sp>
        <p:nvSpPr>
          <p:cNvPr name="Freeform 4" id="4"/>
          <p:cNvSpPr/>
          <p:nvPr/>
        </p:nvSpPr>
        <p:spPr>
          <a:xfrm flipH="false" flipV="false" rot="0">
            <a:off x="-908719" y="7786423"/>
            <a:ext cx="16230600" cy="4037362"/>
          </a:xfrm>
          <a:custGeom>
            <a:avLst/>
            <a:gdLst/>
            <a:ahLst/>
            <a:cxnLst/>
            <a:rect r="r" b="b" t="t" l="l"/>
            <a:pathLst>
              <a:path h="4037362" w="16230600">
                <a:moveTo>
                  <a:pt x="0" y="0"/>
                </a:moveTo>
                <a:lnTo>
                  <a:pt x="16230600" y="0"/>
                </a:lnTo>
                <a:lnTo>
                  <a:pt x="16230600" y="4037362"/>
                </a:lnTo>
                <a:lnTo>
                  <a:pt x="0" y="4037362"/>
                </a:lnTo>
                <a:lnTo>
                  <a:pt x="0" y="0"/>
                </a:lnTo>
                <a:close/>
              </a:path>
            </a:pathLst>
          </a:custGeom>
          <a:blipFill>
            <a:blip r:embed="rId4"/>
            <a:stretch>
              <a:fillRect l="0" t="0" r="0" b="0"/>
            </a:stretch>
          </a:blipFill>
        </p:spPr>
      </p:sp>
      <p:sp>
        <p:nvSpPr>
          <p:cNvPr name="Freeform 5" id="5"/>
          <p:cNvSpPr/>
          <p:nvPr/>
        </p:nvSpPr>
        <p:spPr>
          <a:xfrm flipH="false" flipV="false" rot="-10800000">
            <a:off x="2905706" y="-1561569"/>
            <a:ext cx="16230600" cy="4037362"/>
          </a:xfrm>
          <a:custGeom>
            <a:avLst/>
            <a:gdLst/>
            <a:ahLst/>
            <a:cxnLst/>
            <a:rect r="r" b="b" t="t" l="l"/>
            <a:pathLst>
              <a:path h="4037362" w="16230600">
                <a:moveTo>
                  <a:pt x="0" y="0"/>
                </a:moveTo>
                <a:lnTo>
                  <a:pt x="16230600" y="0"/>
                </a:lnTo>
                <a:lnTo>
                  <a:pt x="16230600" y="4037361"/>
                </a:lnTo>
                <a:lnTo>
                  <a:pt x="0" y="4037361"/>
                </a:lnTo>
                <a:lnTo>
                  <a:pt x="0" y="0"/>
                </a:lnTo>
                <a:close/>
              </a:path>
            </a:pathLst>
          </a:custGeom>
          <a:blipFill>
            <a:blip r:embed="rId4"/>
            <a:stretch>
              <a:fillRect l="0" t="0" r="0" b="0"/>
            </a:stretch>
          </a:blipFill>
        </p:spPr>
      </p:sp>
      <p:sp>
        <p:nvSpPr>
          <p:cNvPr name="Freeform 6" id="6"/>
          <p:cNvSpPr/>
          <p:nvPr/>
        </p:nvSpPr>
        <p:spPr>
          <a:xfrm flipH="true" flipV="false" rot="0">
            <a:off x="14260813" y="-84522"/>
            <a:ext cx="4262923" cy="5120628"/>
          </a:xfrm>
          <a:custGeom>
            <a:avLst/>
            <a:gdLst/>
            <a:ahLst/>
            <a:cxnLst/>
            <a:rect r="r" b="b" t="t" l="l"/>
            <a:pathLst>
              <a:path h="5120628" w="4262923">
                <a:moveTo>
                  <a:pt x="4262923" y="0"/>
                </a:moveTo>
                <a:lnTo>
                  <a:pt x="0" y="0"/>
                </a:lnTo>
                <a:lnTo>
                  <a:pt x="0" y="5120628"/>
                </a:lnTo>
                <a:lnTo>
                  <a:pt x="4262923" y="5120628"/>
                </a:lnTo>
                <a:lnTo>
                  <a:pt x="4262923" y="0"/>
                </a:lnTo>
                <a:close/>
              </a:path>
            </a:pathLst>
          </a:custGeom>
          <a:blipFill>
            <a:blip r:embed="rId3"/>
            <a:stretch>
              <a:fillRect l="0" t="0" r="0" b="0"/>
            </a:stretch>
          </a:blipFill>
        </p:spPr>
      </p:sp>
      <p:sp>
        <p:nvSpPr>
          <p:cNvPr name="TextBox 7" id="7"/>
          <p:cNvSpPr txBox="true"/>
          <p:nvPr/>
        </p:nvSpPr>
        <p:spPr>
          <a:xfrm rot="0">
            <a:off x="2069346" y="3453911"/>
            <a:ext cx="14149309" cy="3036279"/>
          </a:xfrm>
          <a:prstGeom prst="rect">
            <a:avLst/>
          </a:prstGeom>
        </p:spPr>
        <p:txBody>
          <a:bodyPr anchor="t" rtlCol="false" tIns="0" lIns="0" bIns="0" rIns="0">
            <a:spAutoFit/>
          </a:bodyPr>
          <a:lstStyle/>
          <a:p>
            <a:pPr algn="ctr">
              <a:lnSpc>
                <a:spcPts val="24796"/>
              </a:lnSpc>
            </a:pPr>
            <a:r>
              <a:rPr lang="en-US" sz="17711">
                <a:solidFill>
                  <a:srgbClr val="161B1C"/>
                </a:solidFill>
                <a:latin typeface="Sego"/>
                <a:ea typeface="Sego"/>
                <a:cs typeface="Sego"/>
                <a:sym typeface="Seg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DAHBaYcGI2M</dc:identifier>
  <dcterms:modified xsi:type="dcterms:W3CDTF">2011-08-01T06:04:30Z</dcterms:modified>
  <cp:revision>1</cp:revision>
  <dc:title>Blue Minimalist Modern Professional Presentation</dc:title>
</cp:coreProperties>
</file>